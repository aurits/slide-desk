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D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600">
                <a:solidFill>
                  <a:srgbClr val="1D3B5C"/>
                </a:solidFill>
                <a:latin typeface="Segoe UI"/>
                <a:ea typeface="Yu Gothic UI"/>
              </a:rPr>
              <a:t>AIBOS CAPITAL   ·   INVESTOR MEMO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640080" cy="1905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0" b="1" spc="400">
                <a:solidFill>
                  <a:srgbClr val="141414"/>
                </a:solidFill>
                <a:latin typeface="Georgia"/>
                <a:ea typeface="Yu Mincho"/>
              </a:rPr>
              <a:t>大 承 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1D3B5C"/>
                </a:solidFill>
                <a:latin typeface="Georgia"/>
                <a:ea typeface="Yu Mincho"/>
              </a:rPr>
              <a:t>The Great Handover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spc="100">
                <a:solidFill>
                  <a:srgbClr val="3A3A3A"/>
                </a:solidFill>
                <a:latin typeface="Segoe UI"/>
                <a:ea typeface="Yu Gothic UI"/>
              </a:rPr>
              <a:t>日本の中小企業承継危機を、世代の投資機会へ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A3A3A"/>
                </a:solidFill>
                <a:latin typeface="Georgia"/>
                <a:ea typeface="Yu Mincho"/>
              </a:rPr>
              <a:t>Reframing Japan's SMB succession crisis as a generational investment thesis.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217920"/>
            <a:ext cx="10332720" cy="6350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0">
                <a:solidFill>
                  <a:srgbClr val="3A3A3A"/>
                </a:solidFill>
                <a:latin typeface="Segoe UI"/>
                <a:ea typeface="Yu Gothic UI"/>
              </a:rPr>
              <a:t>2026 年 4 月   ·  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309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spc="400">
                <a:solidFill>
                  <a:srgbClr val="3A3A3A"/>
                </a:solidFill>
                <a:latin typeface="Segoe UI"/>
                <a:ea typeface="Yu Gothic UI"/>
              </a:rPr>
              <a:t>CONFIDENTIAL   ·   機密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0" y="1645920"/>
            <a:ext cx="868680" cy="868680"/>
          </a:xfrm>
          <a:prstGeom prst="rect">
            <a:avLst/>
          </a:prstGeom>
          <a:solidFill>
            <a:srgbClr val="B03A2E"/>
          </a:solidFill>
          <a:ln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164592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3ECDD"/>
                </a:solidFill>
                <a:latin typeface="Georgia"/>
                <a:ea typeface="Yu Mincho"/>
              </a:rPr>
              <a:t>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400">
                <a:solidFill>
                  <a:srgbClr val="B03A2E"/>
                </a:solidFill>
                <a:latin typeface="Segoe UI"/>
                <a:ea typeface="Yu Gothic UI"/>
              </a:rPr>
              <a:t>序章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600">
                <a:solidFill>
                  <a:srgbClr val="B03A2E"/>
                </a:solidFill>
                <a:latin typeface="Segoe UI"/>
                <a:ea typeface="Yu Gothic UI"/>
              </a:rPr>
              <a:t>PROLOGUE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881360" cy="6350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Georgia"/>
                <a:ea typeface="Yu Mincho"/>
              </a:rPr>
              <a:t>Somewhere in Japan, every twenty minutes,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Georgia"/>
                <a:ea typeface="Yu Mincho"/>
              </a:rPr>
              <a:t>a business closes — not because it failed, but because no one was ready to take 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0" b="1">
                <a:solidFill>
                  <a:srgbClr val="141414"/>
                </a:solidFill>
                <a:latin typeface="Georgia"/>
                <a:ea typeface="Yu Mincho"/>
              </a:rPr>
              <a:t>2,450,000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303520"/>
            <a:ext cx="25400" cy="4572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00">
                <a:solidFill>
                  <a:srgbClr val="141414"/>
                </a:solidFill>
                <a:latin typeface="Segoe UI"/>
                <a:ea typeface="Yu Gothic UI"/>
              </a:rPr>
              <a:t>後継者不在の日本企業 ／ 全中小企業の約三分の二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A3A3A"/>
                </a:solidFill>
                <a:latin typeface="Georgia"/>
                <a:ea typeface="Yu Mincho"/>
              </a:rPr>
              <a:t>Japanese businesses without a designated successor — roughly two-thirds of all SMBs.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9CA1A8"/>
                </a:solidFill>
                <a:latin typeface="Segoe UI"/>
                <a:ea typeface="Yu Gothic UI"/>
              </a:rPr>
              <a:t>Source: METI, Teikoku Databank (2023)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400">
                <a:solidFill>
                  <a:srgbClr val="9CA1A8"/>
                </a:solidFill>
                <a:latin typeface="Segoe UI"/>
                <a:ea typeface="Yu Gothic UI"/>
              </a:rPr>
              <a:t>大承継   ·   THE GREAT HANDOVER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400">
                <a:solidFill>
                  <a:srgbClr val="9CA1A8"/>
                </a:solidFill>
                <a:latin typeface="Segoe UI"/>
                <a:ea typeface="Yu Gothic UI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400">
                <a:solidFill>
                  <a:srgbClr val="B03A2E"/>
                </a:solidFill>
                <a:latin typeface="Segoe UI"/>
                <a:ea typeface="Yu Gothic UI"/>
              </a:rPr>
              <a:t>第一章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600">
                <a:solidFill>
                  <a:srgbClr val="B03A2E"/>
                </a:solidFill>
                <a:latin typeface="Segoe UI"/>
                <a:ea typeface="Yu Gothic UI"/>
              </a:rPr>
              <a:t>CHAPTER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881360" cy="6350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D3B5C"/>
                </a:solidFill>
                <a:latin typeface="Georgia"/>
                <a:ea typeface="Yu Mincho"/>
              </a:rPr>
              <a:t>時計は止まらない。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41414"/>
                </a:solidFill>
                <a:latin typeface="Georgia"/>
                <a:ea typeface="Yu Mincho"/>
              </a:rPr>
              <a:t>The clock is not slowing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spc="100">
                <a:solidFill>
                  <a:srgbClr val="141414"/>
                </a:solidFill>
                <a:latin typeface="Segoe UI"/>
                <a:ea typeface="Yu Gothic UI"/>
              </a:rPr>
              <a:t>日本の町工場・老舗・地域企業。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2120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A3A3A"/>
                </a:solidFill>
                <a:latin typeface="Georgia"/>
                <a:ea typeface="Yu Mincho"/>
              </a:rPr>
              <a:t>Japan's workshops, century-old shops, and regional champions built the post-war economy. Their owners are now, on average, 62 years old — and 58% have no successor in place. Without a bridge, craft, IP, and local employment quietly evaporate.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2461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3A3A3A"/>
                </a:solidFill>
                <a:latin typeface="Segoe UI"/>
                <a:ea typeface="Yu Gothic UI"/>
              </a:rPr>
              <a:t>SMB owner age distribution   ／   経営者年齢分布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65760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spc="100">
                <a:solidFill>
                  <a:srgbClr val="141414"/>
                </a:solidFill>
                <a:latin typeface="Segoe UI"/>
                <a:ea typeface="Yu Gothic UI"/>
              </a:rPr>
              <a:t>40代以下  ·  Under 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767328"/>
            <a:ext cx="2743200" cy="164592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3767328"/>
            <a:ext cx="219456" cy="164592"/>
          </a:xfrm>
          <a:prstGeom prst="rect">
            <a:avLst/>
          </a:prstGeom>
          <a:solidFill>
            <a:srgbClr val="6B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365760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41414"/>
                </a:solidFill>
                <a:latin typeface="Georgia"/>
                <a:ea typeface="Yu Mincho"/>
              </a:rPr>
              <a:t>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0624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spc="100">
                <a:solidFill>
                  <a:srgbClr val="141414"/>
                </a:solidFill>
                <a:latin typeface="Segoe UI"/>
                <a:ea typeface="Yu Gothic UI"/>
              </a:rPr>
              <a:t>50代  ·  50s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315968"/>
            <a:ext cx="2743200" cy="164592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4315968"/>
            <a:ext cx="521208" cy="164592"/>
          </a:xfrm>
          <a:prstGeom prst="rect">
            <a:avLst/>
          </a:prstGeom>
          <a:solidFill>
            <a:srgbClr val="6B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420624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41414"/>
                </a:solidFill>
                <a:latin typeface="Georgia"/>
                <a:ea typeface="Yu Mincho"/>
              </a:rPr>
              <a:t>19%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5488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spc="100">
                <a:solidFill>
                  <a:srgbClr val="141414"/>
                </a:solidFill>
                <a:latin typeface="Segoe UI"/>
                <a:ea typeface="Yu Gothic UI"/>
              </a:rPr>
              <a:t>60代  ·  60s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4864608"/>
            <a:ext cx="2743200" cy="164592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4864608"/>
            <a:ext cx="932688" cy="164592"/>
          </a:xfrm>
          <a:prstGeom prst="rect">
            <a:avLst/>
          </a:prstGeom>
          <a:solidFill>
            <a:srgbClr val="1D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475488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41414"/>
                </a:solidFill>
                <a:latin typeface="Georgia"/>
                <a:ea typeface="Yu Mincho"/>
              </a:rPr>
              <a:t>34%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3035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spc="100">
                <a:solidFill>
                  <a:srgbClr val="141414"/>
                </a:solidFill>
                <a:latin typeface="Segoe UI"/>
                <a:ea typeface="Yu Gothic UI"/>
              </a:rPr>
              <a:t>70代  ·  70s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5413248"/>
            <a:ext cx="2743200" cy="164592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5413248"/>
            <a:ext cx="713232" cy="164592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530352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41414"/>
                </a:solidFill>
                <a:latin typeface="Georgia"/>
                <a:ea typeface="Yu Mincho"/>
              </a:rPr>
              <a:t>26%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85216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spc="100">
                <a:solidFill>
                  <a:srgbClr val="141414"/>
                </a:solidFill>
                <a:latin typeface="Segoe UI"/>
                <a:ea typeface="Yu Gothic UI"/>
              </a:rPr>
              <a:t>80代以上  ·  80+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5961888"/>
            <a:ext cx="2743200" cy="164592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5961888"/>
            <a:ext cx="356616" cy="16459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0" y="585216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41414"/>
                </a:solidFill>
                <a:latin typeface="Georgia"/>
                <a:ea typeface="Yu Mincho"/>
              </a:rPr>
              <a:t>13%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172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9CA1A8"/>
                </a:solidFill>
                <a:latin typeface="Segoe UI"/>
                <a:ea typeface="Yu Gothic UI"/>
              </a:rPr>
              <a:t>Source: SMBA White Paper (2024)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400">
                <a:solidFill>
                  <a:srgbClr val="9CA1A8"/>
                </a:solidFill>
                <a:latin typeface="Segoe UI"/>
                <a:ea typeface="Yu Gothic UI"/>
              </a:rPr>
              <a:t>第一章 時計   ·   CHAPTER ONE · THE CLOCK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400">
                <a:solidFill>
                  <a:srgbClr val="9CA1A8"/>
                </a:solidFill>
                <a:latin typeface="Segoe UI"/>
                <a:ea typeface="Yu Gothic UI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400">
                <a:solidFill>
                  <a:srgbClr val="B03A2E"/>
                </a:solidFill>
                <a:latin typeface="Segoe UI"/>
                <a:ea typeface="Yu Gothic UI"/>
              </a:rPr>
              <a:t>第二章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600">
                <a:solidFill>
                  <a:srgbClr val="B03A2E"/>
                </a:solidFill>
                <a:latin typeface="Segoe UI"/>
                <a:ea typeface="Yu Gothic UI"/>
              </a:rPr>
              <a:t>CHAPTER TWO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25880"/>
            <a:ext cx="10332720" cy="63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9CA1A8"/>
                </a:solidFill>
                <a:latin typeface="Georgia"/>
                <a:ea typeface="Yu Mincho"/>
              </a:rPr>
              <a:t>失われるのは、売上ではない。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3ECDD"/>
                </a:solidFill>
                <a:latin typeface="Georgia"/>
                <a:ea typeface="Yu Mincho"/>
              </a:rPr>
              <a:t>What disappears isn't revenue.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3ECDD"/>
                </a:solidFill>
                <a:latin typeface="Georgia"/>
                <a:ea typeface="Yu Mincho"/>
              </a:rPr>
              <a:t>¥22兆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500">
                <a:solidFill>
                  <a:srgbClr val="B03A2E"/>
                </a:solidFill>
                <a:latin typeface="Segoe UI"/>
                <a:ea typeface="Yu Gothic UI"/>
              </a:rPr>
              <a:t>22 trillion yen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394960"/>
            <a:ext cx="457200" cy="127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CA1A8"/>
                </a:solidFill>
                <a:latin typeface="Georgia"/>
                <a:ea typeface="Yu Mincho"/>
              </a:rPr>
              <a:t>GDP at risk by 2025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9CA1A8"/>
                </a:solidFill>
                <a:latin typeface="Georgia"/>
                <a:ea typeface="Yu Mincho"/>
              </a:rPr>
              <a:t>2025年までに失われるGDP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84048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3ECDD"/>
                </a:solidFill>
                <a:latin typeface="Georgia"/>
                <a:ea typeface="Yu Mincho"/>
              </a:rPr>
              <a:t>6.5M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0292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500">
                <a:solidFill>
                  <a:srgbClr val="B03A2E"/>
                </a:solidFill>
                <a:latin typeface="Segoe UI"/>
                <a:ea typeface="Yu Gothic UI"/>
              </a:rPr>
              <a:t>six-and-a-half million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5394960"/>
            <a:ext cx="457200" cy="127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553212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CA1A8"/>
                </a:solidFill>
                <a:latin typeface="Georgia"/>
                <a:ea typeface="Yu Mincho"/>
              </a:rPr>
              <a:t>Jobs in the balance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9CA1A8"/>
                </a:solidFill>
                <a:latin typeface="Georgia"/>
                <a:ea typeface="Yu Mincho"/>
              </a:rPr>
              <a:t>雇用喪失の可能性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84048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3ECDD"/>
                </a:solidFill>
                <a:latin typeface="Georgia"/>
                <a:ea typeface="Yu Mincho"/>
              </a:rPr>
              <a:t>127年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0292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500">
                <a:solidFill>
                  <a:srgbClr val="B03A2E"/>
                </a:solidFill>
                <a:latin typeface="Segoe UI"/>
                <a:ea typeface="Yu Gothic UI"/>
              </a:rPr>
              <a:t>127 years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5394960"/>
            <a:ext cx="457200" cy="127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553212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CA1A8"/>
                </a:solidFill>
                <a:latin typeface="Georgia"/>
                <a:ea typeface="Yu Mincho"/>
              </a:rPr>
              <a:t>Avg. age of lost 老舗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9CA1A8"/>
                </a:solidFill>
                <a:latin typeface="Georgia"/>
                <a:ea typeface="Yu Mincho"/>
              </a:rPr>
              <a:t>廃業老舗の平均創業年数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400">
                <a:solidFill>
                  <a:srgbClr val="9CA1A8"/>
                </a:solidFill>
                <a:latin typeface="Segoe UI"/>
                <a:ea typeface="Yu Gothic UI"/>
              </a:rPr>
              <a:t>第二章 代償   ·   CHAPTER TWO · THE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400">
                <a:solidFill>
                  <a:srgbClr val="9CA1A8"/>
                </a:solidFill>
                <a:latin typeface="Segoe UI"/>
                <a:ea typeface="Yu Gothic UI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D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600">
                <a:solidFill>
                  <a:srgbClr val="F3ECDD"/>
                </a:solidFill>
                <a:latin typeface="Segoe UI"/>
                <a:ea typeface="Yu Gothic UI"/>
              </a:rPr>
              <a:t>第三章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600">
                <a:solidFill>
                  <a:srgbClr val="F3ECDD"/>
                </a:solidFill>
                <a:latin typeface="Segoe UI"/>
                <a:ea typeface="Yu Gothic UI"/>
              </a:rPr>
              <a:t>CHAPTER THREE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" cy="1905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657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3ECDD"/>
                </a:solidFill>
                <a:latin typeface="Georgia"/>
                <a:ea typeface="Yu Mincho"/>
              </a:rPr>
              <a:t>危機ではない。</a:t>
            </a:r>
          </a:p>
          <a:p>
            <a:pPr algn="l">
              <a:lnSpc>
                <a:spcPct val="120000"/>
              </a:lnSpc>
            </a:pPr>
            <a:r>
              <a:rPr sz="3200" b="1">
                <a:solidFill>
                  <a:srgbClr val="F3ECDD"/>
                </a:solidFill>
                <a:latin typeface="Georgia"/>
                <a:ea typeface="Yu Mincho"/>
              </a:rPr>
              <a:t>機会である。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B03A2E"/>
                </a:solidFill>
                <a:latin typeface="Georgia"/>
                <a:ea typeface="Yu Mincho"/>
              </a:rPr>
              <a:t>Not a crisis.</a:t>
            </a:r>
          </a:p>
          <a:p>
            <a:pPr algn="l">
              <a:lnSpc>
                <a:spcPct val="120000"/>
              </a:lnSpc>
            </a:pPr>
            <a:r>
              <a:rPr sz="2600" b="0">
                <a:solidFill>
                  <a:srgbClr val="B03A2E"/>
                </a:solidFill>
                <a:latin typeface="Georgia"/>
                <a:ea typeface="Yu Mincho"/>
              </a:rPr>
              <a:t>A portfolio.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8229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500">
                <a:solidFill>
                  <a:srgbClr val="B03A2E"/>
                </a:solidFill>
                <a:latin typeface="Segoe UI"/>
                <a:ea typeface="Yu Gothic UI"/>
              </a:rPr>
              <a:t>THE THESIS   ／   投資仮説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6400800" cy="12700"/>
          </a:xfrm>
          <a:prstGeom prst="rect">
            <a:avLst/>
          </a:prstGeom>
          <a:solidFill>
            <a:srgbClr val="1D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54480"/>
            <a:ext cx="6858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41414"/>
                </a:solidFill>
                <a:latin typeface="Georgia"/>
                <a:ea typeface="Yu Mincho"/>
              </a:rPr>
              <a:t>Japan's succession gap is the largest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141414"/>
                </a:solidFill>
                <a:latin typeface="Georgia"/>
                <a:ea typeface="Yu Mincho"/>
              </a:rPr>
              <a:t>structured private-market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141414"/>
                </a:solidFill>
                <a:latin typeface="Georgia"/>
                <a:ea typeface="Yu Mincho"/>
              </a:rPr>
              <a:t>opportunity in Asia.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6576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D3B5C"/>
                </a:solidFill>
                <a:latin typeface="Georgia"/>
                <a:ea typeface="Yu Mincho"/>
              </a:rPr>
              <a:t>資本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160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500">
                <a:solidFill>
                  <a:srgbClr val="B03A2E"/>
                </a:solidFill>
                <a:latin typeface="Segoe UI"/>
                <a:ea typeface="Yu Gothic UI"/>
              </a:rPr>
              <a:t>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Georgia"/>
                <a:ea typeface="Yu Mincho"/>
              </a:rPr>
              <a:t>Patient, long-duration vehicles that align with founder timelines.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3A3A3A"/>
                </a:solidFill>
                <a:latin typeface="Segoe UI"/>
                <a:ea typeface="Yu Gothic UI"/>
              </a:rPr>
              <a:t>創業者の時間軸に寄り添う、長期保有型の資金。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4434840"/>
            <a:ext cx="6858000" cy="6350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45262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D3B5C"/>
                </a:solidFill>
                <a:latin typeface="Georgia"/>
                <a:ea typeface="Yu Mincho"/>
              </a:rPr>
              <a:t>技術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029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500">
                <a:solidFill>
                  <a:srgbClr val="B03A2E"/>
                </a:solidFill>
                <a:latin typeface="Segoe UI"/>
                <a:ea typeface="Yu Gothic UI"/>
              </a:rPr>
              <a:t>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Georgia"/>
                <a:ea typeface="Yu Mincho"/>
              </a:rPr>
              <a:t>A shared platform — ERP, finance, data — deployed across holdings.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920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3A3A3A"/>
                </a:solidFill>
                <a:latin typeface="Segoe UI"/>
                <a:ea typeface="Yu Gothic UI"/>
              </a:rPr>
              <a:t>共通基盤による経営の高速化と可視化。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5303520"/>
            <a:ext cx="6858000" cy="6350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53949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D3B5C"/>
                </a:solidFill>
                <a:latin typeface="Georgia"/>
                <a:ea typeface="Yu Mincho"/>
              </a:rPr>
              <a:t>人材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897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500">
                <a:solidFill>
                  <a:srgbClr val="B03A2E"/>
                </a:solidFill>
                <a:latin typeface="Segoe UI"/>
                <a:ea typeface="Yu Gothic UI"/>
              </a:rPr>
              <a:t>OPERATORS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949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Georgia"/>
                <a:ea typeface="Yu Mincho"/>
              </a:rPr>
              <a:t>Bilingual operators who respect craft and can scale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7607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3A3A3A"/>
                </a:solidFill>
                <a:latin typeface="Segoe UI"/>
                <a:ea typeface="Yu Gothic UI"/>
              </a:rPr>
              <a:t>職人文化を理解し、拡張できるバイリンガル経営者。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6172200"/>
            <a:ext cx="6858000" cy="6350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400">
                <a:solidFill>
                  <a:srgbClr val="9CA1A8"/>
                </a:solidFill>
                <a:latin typeface="Segoe UI"/>
                <a:ea typeface="Yu Gothic UI"/>
              </a:rPr>
              <a:t>第三章 仮説   ·   CHAPTER THREE · THE THESIS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400">
                <a:solidFill>
                  <a:srgbClr val="9CA1A8"/>
                </a:solidFill>
                <a:latin typeface="Segoe UI"/>
                <a:ea typeface="Yu Gothic UI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400">
                <a:solidFill>
                  <a:srgbClr val="B03A2E"/>
                </a:solidFill>
                <a:latin typeface="Segoe UI"/>
                <a:ea typeface="Yu Gothic UI"/>
              </a:rPr>
              <a:t>第四章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600">
                <a:solidFill>
                  <a:srgbClr val="B03A2E"/>
                </a:solidFill>
                <a:latin typeface="Segoe UI"/>
                <a:ea typeface="Yu Gothic UI"/>
              </a:rPr>
              <a:t>CHAPTER FOUR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881360" cy="6350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spc="800">
                <a:solidFill>
                  <a:srgbClr val="1D3B5C"/>
                </a:solidFill>
                <a:latin typeface="Georgia"/>
                <a:ea typeface="Yu Mincho"/>
              </a:rPr>
              <a:t>守 · 破 · 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Georgia"/>
                <a:ea typeface="Yu Mincho"/>
              </a:rPr>
              <a:t>The playbook, in the language of mastery.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100">
                <a:solidFill>
                  <a:srgbClr val="3A3A3A"/>
                </a:solidFill>
                <a:latin typeface="Segoe UI"/>
                <a:ea typeface="Yu Gothic UI"/>
              </a:rPr>
              <a:t>茶道・武道に由来する三段階 — 継承と革新の作法。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74720"/>
            <a:ext cx="3611880" cy="2743200"/>
          </a:xfrm>
          <a:prstGeom prst="rect">
            <a:avLst/>
          </a:prstGeom>
          <a:solidFill>
            <a:srgbClr val="F3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1D3B5C"/>
                </a:solidFill>
                <a:latin typeface="Georgia"/>
                <a:ea typeface="Yu Mincho"/>
              </a:rPr>
              <a:t>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118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600">
                <a:solidFill>
                  <a:srgbClr val="B03A2E"/>
                </a:solidFill>
                <a:latin typeface="Segoe UI"/>
                <a:ea typeface="Yu Gothic UI"/>
              </a:rPr>
              <a:t>SHU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319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Georgia"/>
                <a:ea typeface="Yu Mincho"/>
              </a:rPr>
              <a:t>Preserve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B5C"/>
                </a:solidFill>
                <a:latin typeface="Georgia"/>
                <a:ea typeface="Yu Mincho"/>
              </a:rPr>
              <a:t>Honour what works.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166360"/>
            <a:ext cx="457200" cy="127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3611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A"/>
                </a:solidFill>
                <a:latin typeface="Georgia"/>
                <a:ea typeface="Yu Mincho"/>
              </a:rPr>
              <a:t>First 12 months: retain the team, the recipe, the relationships. Map every invisible process the founder carries.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0936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A3A3A"/>
                </a:solidFill>
                <a:latin typeface="Segoe UI"/>
                <a:ea typeface="Yu Gothic UI"/>
              </a:rPr>
              <a:t>最初の一年 — 人・商・縁を守り、暗黙知を可視化する。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474720"/>
            <a:ext cx="3611880" cy="2743200"/>
          </a:xfrm>
          <a:prstGeom prst="rect">
            <a:avLst/>
          </a:prstGeom>
          <a:solidFill>
            <a:srgbClr val="F3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5204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B03A2E"/>
                </a:solidFill>
                <a:latin typeface="Georgia"/>
                <a:ea typeface="Yu Mincho"/>
              </a:rPr>
              <a:t>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6118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600">
                <a:solidFill>
                  <a:srgbClr val="B03A2E"/>
                </a:solidFill>
                <a:latin typeface="Segoe UI"/>
                <a:ea typeface="Yu Gothic UI"/>
              </a:rPr>
              <a:t>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9319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Georgia"/>
                <a:ea typeface="Yu Mincho"/>
              </a:rPr>
              <a:t>Adapt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70916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B5C"/>
                </a:solidFill>
                <a:latin typeface="Georgia"/>
                <a:ea typeface="Yu Mincho"/>
              </a:rPr>
              <a:t>Modernise the engine.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5166360"/>
            <a:ext cx="457200" cy="127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5303520"/>
            <a:ext cx="3611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A"/>
                </a:solidFill>
                <a:latin typeface="Georgia"/>
                <a:ea typeface="Yu Mincho"/>
              </a:rPr>
              <a:t>Year 2–3: deploy shared finance, data, and customer infrastructure. Remove the spreadsheet tax.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630936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A3A3A"/>
                </a:solidFill>
                <a:latin typeface="Segoe UI"/>
                <a:ea typeface="Yu Gothic UI"/>
              </a:rPr>
              <a:t>二〜三年目 — 共通基盤を導入し、運営を再定義する。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474720"/>
            <a:ext cx="3611880" cy="2743200"/>
          </a:xfrm>
          <a:prstGeom prst="rect">
            <a:avLst/>
          </a:prstGeom>
          <a:solidFill>
            <a:srgbClr val="F3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5204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1D3B5C"/>
                </a:solidFill>
                <a:latin typeface="Georgia"/>
                <a:ea typeface="Yu Mincho"/>
              </a:rPr>
              <a:t>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6118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600">
                <a:solidFill>
                  <a:srgbClr val="B03A2E"/>
                </a:solidFill>
                <a:latin typeface="Segoe UI"/>
                <a:ea typeface="Yu Gothic UI"/>
              </a:rPr>
              <a:t>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9319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Georgia"/>
                <a:ea typeface="Yu Mincho"/>
              </a:rP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0916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B5C"/>
                </a:solidFill>
                <a:latin typeface="Georgia"/>
                <a:ea typeface="Yu Mincho"/>
              </a:rPr>
              <a:t>Release from the mold.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166360"/>
            <a:ext cx="457200" cy="127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5303520"/>
            <a:ext cx="3611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A"/>
                </a:solidFill>
                <a:latin typeface="Georgia"/>
                <a:ea typeface="Yu Mincho"/>
              </a:rPr>
              <a:t>Year 4+: platform across acquisitions. The craft compounds; the overhead doesn't.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30936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A3A3A"/>
                </a:solidFill>
                <a:latin typeface="Segoe UI"/>
                <a:ea typeface="Yu Gothic UI"/>
              </a:rPr>
              <a:t>四年目以降 — 複数企業の横展開。職人性は積み上がり、間接費は積み上がらない。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400">
                <a:solidFill>
                  <a:srgbClr val="9CA1A8"/>
                </a:solidFill>
                <a:latin typeface="Segoe UI"/>
                <a:ea typeface="Yu Gothic UI"/>
              </a:rPr>
              <a:t>第四章 守破離   ·   CHAPTER FOUR · SHU · HA · 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400">
                <a:solidFill>
                  <a:srgbClr val="9CA1A8"/>
                </a:solidFill>
                <a:latin typeface="Segoe UI"/>
                <a:ea typeface="Yu Gothic UI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400">
                <a:solidFill>
                  <a:srgbClr val="F3ECDD"/>
                </a:solidFill>
                <a:latin typeface="Segoe UI"/>
                <a:ea typeface="Yu Gothic UI"/>
              </a:rPr>
              <a:t>終章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600">
                <a:solidFill>
                  <a:srgbClr val="F3ECDD"/>
                </a:solidFill>
                <a:latin typeface="Segoe UI"/>
                <a:ea typeface="Yu Gothic UI"/>
              </a:rPr>
              <a:t>EPILOGUE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25880"/>
            <a:ext cx="10332720" cy="6350"/>
          </a:xfrm>
          <a:prstGeom prst="rect">
            <a:avLst/>
          </a:prstGeom>
          <a:solidFill>
            <a:srgbClr val="2E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9CA1A8"/>
                </a:solidFill>
                <a:latin typeface="Georgia"/>
                <a:ea typeface="Yu Mincho"/>
              </a:rPr>
              <a:t>静かな革命に、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3ECDD"/>
                </a:solidFill>
                <a:latin typeface="Georgia"/>
                <a:ea typeface="Yu Mincho"/>
              </a:rPr>
              <a:t>Join the quiet revolution.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500">
                <a:solidFill>
                  <a:srgbClr val="B03A2E"/>
                </a:solidFill>
                <a:latin typeface="Segoe UI"/>
                <a:ea typeface="Yu Gothic UI"/>
              </a:rPr>
              <a:t>PILOT SIGNAL   ／   初期実績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06240"/>
            <a:ext cx="914400" cy="1905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3ECDD"/>
                </a:solidFill>
                <a:latin typeface="Georgia"/>
                <a:ea typeface="Yu Mincho"/>
              </a:rPr>
              <a:t>+38% 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1A8"/>
                </a:solidFill>
                <a:latin typeface="Georgia"/>
                <a:ea typeface="Yu Mincho"/>
              </a:rPr>
              <a:t>across 3 portfolio companies, 18 months post-transition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9CA1A8"/>
                </a:solidFill>
                <a:latin typeface="Segoe UI"/>
                <a:ea typeface="Yu Gothic UI"/>
              </a:rPr>
              <a:t>3社平均・承継後18ヶ月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500">
                <a:solidFill>
                  <a:srgbClr val="B03A2E"/>
                </a:solidFill>
                <a:latin typeface="Segoe UI"/>
                <a:ea typeface="Yu Gothic UI"/>
              </a:rPr>
              <a:t>THE ASK   ／   ご提案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206240"/>
            <a:ext cx="914400" cy="1905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3ECDD"/>
                </a:solidFill>
                <a:latin typeface="Georgia"/>
                <a:ea typeface="Yu Mincho"/>
              </a:rPr>
              <a:t>Anchor commitment · ¥5B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100">
                <a:solidFill>
                  <a:srgbClr val="9CA1A8"/>
                </a:solidFill>
                <a:latin typeface="Segoe UI"/>
                <a:ea typeface="Yu Gothic UI"/>
              </a:rPr>
              <a:t>アンカー出資 ／ 50億円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3035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3ECDD"/>
                </a:solidFill>
                <a:latin typeface="Georgia"/>
                <a:ea typeface="Yu Mincho"/>
              </a:rPr>
              <a:t>Advisory seat · Fund II close Q3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669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9CA1A8"/>
                </a:solidFill>
                <a:latin typeface="Segoe UI"/>
                <a:ea typeface="Yu Gothic UI"/>
              </a:rPr>
              <a:t>アドバイザリー席・2026年第3四半期クローズ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6263640"/>
            <a:ext cx="10332720" cy="6350"/>
          </a:xfrm>
          <a:prstGeom prst="rect">
            <a:avLst/>
          </a:prstGeom>
          <a:solidFill>
            <a:srgbClr val="2E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200">
                <a:solidFill>
                  <a:srgbClr val="9CA1A8"/>
                </a:solidFill>
                <a:latin typeface="Segoe UI"/>
                <a:ea typeface="Yu Gothic UI"/>
              </a:rPr>
              <a:t>alanda.ambrose @ aibos.co.jp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355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400">
                <a:solidFill>
                  <a:srgbClr val="9CA1A8"/>
                </a:solidFill>
                <a:latin typeface="Segoe UI"/>
                <a:ea typeface="Yu Gothic UI"/>
              </a:rPr>
              <a:t>07 / 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691640"/>
            <a:ext cx="868680" cy="868680"/>
          </a:xfrm>
          <a:prstGeom prst="rect">
            <a:avLst/>
          </a:prstGeom>
          <a:solidFill>
            <a:srgbClr val="B03A2E"/>
          </a:solidFill>
          <a:ln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169164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3ECDD"/>
                </a:solidFill>
                <a:latin typeface="Georgia"/>
                <a:ea typeface="Yu Mincho"/>
              </a:rPr>
              <a:t>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