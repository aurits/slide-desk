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 spc="500">
                <a:solidFill>
                  <a:srgbClr val="1A1713"/>
                </a:solidFill>
                <a:latin typeface="Georgia"/>
                <a:ea typeface="Yu Mincho"/>
              </a:rPr>
              <a:t>工 房 便 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0" i="0">
                <a:solidFill>
                  <a:srgbClr val="203B5A"/>
                </a:solidFill>
                <a:latin typeface="Georgia"/>
                <a:ea typeface="Yu Mincho"/>
              </a:rPr>
              <a:t>State of the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A3732"/>
                </a:solidFill>
                <a:latin typeface="Georgia"/>
                <a:ea typeface="Yu Mincho"/>
              </a:rPr>
              <a:t>What we've been making.  And 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作ってきたもの、そしてその作り方について。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拝啓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LETTER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1A1713"/>
                </a:solidFill>
                <a:latin typeface="Georgia"/>
                <a:ea typeface="Yu Mincho"/>
              </a:rPr>
              <a:t>You asked what Create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1A1713"/>
                </a:solidFill>
                <a:latin typeface="Georgia"/>
                <a:ea typeface="Yu Mincho"/>
              </a:rPr>
              <a:t>has been working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03B5A"/>
                </a:solidFill>
                <a:latin typeface="Georgia"/>
                <a:ea typeface="Yu Mincho"/>
              </a:rPr>
              <a:t>Here's what we'd like to show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4924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これまで作ってきたものを、お見せに参りました。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拝啓   ·   A LETTER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工房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workshop.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 spc="100">
                <a:solidFill>
                  <a:srgbClr val="3A3732"/>
                </a:solidFill>
                <a:latin typeface="Segoe UI"/>
                <a:ea typeface="Yu Gothic UI"/>
              </a:rPr>
              <a:t>七人の職人が、一つの工房で働いています。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仕組み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20" name="Oval 19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Deployment</a:t>
            </a:r>
          </a:p>
        </p:txBody>
      </p:sp>
      <p:sp>
        <p:nvSpPr>
          <p:cNvPr id="24" name="Oval 23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8" name="Oval 27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Interface</a:t>
            </a:r>
          </a:p>
        </p:txBody>
      </p:sp>
      <p:sp>
        <p:nvSpPr>
          <p:cNvPr id="32" name="Oval 31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Small enough to move as one.  Large enough to ship two products at once.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工房 · 第一章   ·   THE STUDIO · CHAPTER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11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OUR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3A3732"/>
                </a:solidFill>
                <a:latin typeface="Georgia"/>
                <a:ea typeface="Yu Mincho"/>
              </a:rPr>
              <a:t>Three simple ideas guide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Clarity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明晰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We only build what we can explain to a customer.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規律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0749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Nothing ships until it is ready.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03B5A"/>
                </a:solidFill>
                <a:latin typeface="Georgia"/>
                <a:ea typeface="Yu Mincho"/>
              </a:rPr>
              <a:t>Compounding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 spc="300">
                <a:solidFill>
                  <a:srgbClr val="B23A2E"/>
                </a:solidFill>
                <a:latin typeface="Georgia"/>
                <a:ea typeface="Yu Mincho"/>
              </a:rPr>
              <a:t>積重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493776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0749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Every quarter ends better than the last.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· 第二章   ·   OUR WAY · CHAPTER TWO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WORK I   ·   作品 其ノ壱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732"/>
                </a:solidFill>
                <a:latin typeface="Georgia"/>
                <a:ea typeface="Yu Mincho"/>
              </a:rPr>
              <a:t>Clothes, turned into a campaign — without a photoshoot.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衣服を、撮影いらずのキャンペーンに。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A designer in Tokyo uploads a single piece of clothing.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Before her coffee is cold, thirty campaign-ready photos arrive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five backgrounds, three seasons, every angle matched.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03B5A"/>
                </a:solidFill>
                <a:latin typeface="Georgia"/>
                <a:ea typeface="Yu Mincho"/>
              </a:rPr>
              <a:t>No studio booked.  No model hired.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其ノ壱 · 情景   ·   WORK I · THE 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作品 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WORK I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people who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使う人にとって、何が変わるのか。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took a month.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outfit, one set of photos.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And a bill only the biggest brands could afford.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a morning.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outfit becomes a hundred images.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season, any market, any look.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Every brand moves at the speed of an idea.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其ノ壱 · 変化   ·   WORK I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11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WORK II   ·   作品 其ノ弐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9BEA7"/>
                </a:solidFill>
                <a:latin typeface="Georgia"/>
                <a:ea typeface="Yu Mincho"/>
              </a:rPr>
              <a:t>The work your team does best — set up to run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C9BEA7"/>
                </a:solidFill>
                <a:latin typeface="Segoe UI"/>
                <a:ea typeface="Yu Gothic UI"/>
              </a:rPr>
              <a:t>チームの得意な仕事を、自ら動く仕組みに。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 team opens Blueprint with a brief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 question, a request, a shape of what they need.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The workflow takes it, step by step, the way the team taught it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and the finished result comes back, ready to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作品 其ノ弐 · 情景   ·   WORK II · THE 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07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作品 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WORK II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people who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使う人にとって、何が変わるのか。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The same work, done by hand, every time.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Good ideas waited for someone with the time.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Steps lived in tabs, chats, and one person's head.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Nothing moved without the person who knew how.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work runs on a path the team has built.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AI does the heavy lifting.  People stay on the ideas.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brief in the morning becomes a result by lunch.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work keeps going, even when the team rests.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作品 其ノ弐 · 変化   ·   WORK II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08 / 11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things the work has taught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二つの作品が、私たちに教えてくれたこと。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08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Our best decision this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20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was choosing not to build something.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31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最良の判断は、作らないと決めたことだった。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51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Small teams don't just move faster.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They agree on what's good.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少人数は、速いだけではない。良し悪しが揃う。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1A1713"/>
                </a:solidFill>
                <a:latin typeface="Georgia"/>
                <a:ea typeface="Yu Mincho"/>
              </a:rPr>
              <a:t>Customers don't ask for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806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1">
                <a:solidFill>
                  <a:srgbClr val="203B5A"/>
                </a:solidFill>
                <a:latin typeface="Georgia"/>
                <a:ea typeface="Yu Mincho"/>
              </a:rPr>
              <a:t>They ask for less of the old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顧客が求めるのは機能ではなく、古い手間からの解放である。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· 第三章   ·   WHAT WE'VE LEARNED · CHAPTER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地平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C9BEA7"/>
                </a:solidFill>
                <a:latin typeface="Georgia"/>
                <a:ea typeface="Yu Mincho"/>
              </a:rPr>
              <a:t>The next months, at a glance.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5EFE2"/>
                </a:solidFill>
                <a:latin typeface="Georgia"/>
                <a:ea typeface="Yu Mincho"/>
              </a:rPr>
              <a:t>Depth, not breadth.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5EFE2"/>
                </a:solidFill>
                <a:latin typeface="Georgia"/>
                <a:ea typeface="Yu Mincho"/>
              </a:rPr>
              <a:t>Craft, not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B23A2E"/>
                </a:solidFill>
                <a:latin typeface="Georgia"/>
                <a:ea typeface="Yu Mincho"/>
              </a:rPr>
              <a:t>The kind of work customers talk about.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6928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The studio is built to keep getting better. The next months are where you will begin to see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工房は、積み重ねるために造られています。これからの数か月が、その始まりです。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10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1A1713"/>
                </a:solidFill>
                <a:latin typeface="Georgia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We'd be glad to walk you deeper into whichever one you choose.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931920"/>
            <a:ext cx="4572000" cy="210312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931920"/>
            <a:ext cx="457200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WORK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5262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Clothes become a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衣服が、物語になる。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931920"/>
            <a:ext cx="4572000" cy="210312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931920"/>
            <a:ext cx="457200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WORK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5262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Your team's best work, running on its 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得意な仕事が、仕組みになる。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11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