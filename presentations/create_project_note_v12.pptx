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54872"/>
                </a:solidFill>
                <a:latin typeface="Sitka Banner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51211"/>
                </a:solidFill>
                <a:latin typeface="Sitka Banner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530"/>
                </a:solidFill>
                <a:latin typeface="Sitka Banner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54872"/>
                </a:solidFill>
                <a:latin typeface="Corbel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530"/>
                </a:solidFill>
                <a:latin typeface="Corbel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530"/>
                </a:solidFill>
                <a:latin typeface="Corbel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51211"/>
                </a:solidFill>
                <a:latin typeface="Sitka Banner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54872"/>
                </a:solidFill>
                <a:latin typeface="Sitka Banner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530"/>
                </a:solidFill>
                <a:latin typeface="Corbel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02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Six makers.  Two products.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51211"/>
                </a:solidFill>
                <a:latin typeface="Sitka Banner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9912096" y="370332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3246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9959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2286000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土台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Infrastructure</a:t>
            </a:r>
          </a:p>
        </p:txBody>
      </p:sp>
      <p:sp>
        <p:nvSpPr>
          <p:cNvPr id="25" name="Oval 24"/>
          <p:cNvSpPr/>
          <p:nvPr/>
        </p:nvSpPr>
        <p:spPr>
          <a:xfrm>
            <a:off x="6099048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表層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Frontend</a:t>
            </a:r>
          </a:p>
        </p:txBody>
      </p:sp>
      <p:sp>
        <p:nvSpPr>
          <p:cNvPr id="29" name="Oval 28"/>
          <p:cNvSpPr/>
          <p:nvPr/>
        </p:nvSpPr>
        <p:spPr>
          <a:xfrm>
            <a:off x="9912096" y="5166360"/>
            <a:ext cx="237744" cy="237744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254872"/>
                </a:solidFill>
                <a:latin typeface="Corbel"/>
                <a:ea typeface="Yu Gothic UI"/>
              </a:rPr>
              <a:t>補佐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Corbel"/>
                <a:ea typeface="Yu Gothic UI"/>
              </a:rPr>
              <a:t>Backend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Engineering, product, infrastructure — all carried by the same six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仲間   ·  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03 / 17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530"/>
                </a:solidFill>
                <a:latin typeface="Sitka Banner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4872"/>
                </a:solidFill>
                <a:latin typeface="Sitka Banner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15030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530"/>
                </a:solidFill>
                <a:latin typeface="Corbel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04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530"/>
                </a:solidFill>
                <a:latin typeface="Sitka Banner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530"/>
                </a:solidFill>
                <a:latin typeface="Corbel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51211"/>
                </a:solidFill>
                <a:latin typeface="Sitka Banner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4872"/>
                </a:solidFill>
                <a:latin typeface="Sitka Banner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05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06 / 17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進捗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Apparel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Production monitoring + GCP cost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本番運用とGCP費用の監視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Multi-angle background consistency —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多角度背景の一貫性 — 検証中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Client-driven UX adjustments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顧客要望によるUX調整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ComfyUI pipeline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B15030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Sharper background engine — new perspectives, richer scenes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背景エンジンの精度と視点を一段引き上げる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Onboard new paying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新規有償顧客のオンボーディング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Document ComfyUI pipeline; assign a backup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ComfyUIパイプラインの文書化と予備担当の任命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APPAREL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07 / 17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体制 · 其ノ壱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APPAREL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Apparel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A small dedicated pair, focused on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アパレルを支える、二人組。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40 h /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72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672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Single point of ComfyUI knowledge — backup planned.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72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ComfyUI知見の中心 — 予備担当の確保が課題。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200400"/>
            <a:ext cx="4572000" cy="24688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200400"/>
            <a:ext cx="4572000" cy="28575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447" y="3429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600" b="1" i="0">
                <a:solidFill>
                  <a:srgbClr val="B15030"/>
                </a:solidFill>
                <a:latin typeface="Sitka Banner"/>
                <a:ea typeface="Yu Mincho"/>
              </a:rPr>
              <a:t>表層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3474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254872"/>
                </a:solidFill>
                <a:latin typeface="Sitka Banner"/>
                <a:ea typeface="Yu Mincho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3891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29046"/>
                </a:solidFill>
                <a:latin typeface="Sitka Banner"/>
                <a:ea typeface="Yu Mincho"/>
              </a:rPr>
              <a:t>≈ 16 h / week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4487" y="4892040"/>
            <a:ext cx="457200" cy="1524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50292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51211"/>
                </a:solidFill>
                <a:latin typeface="Sitka Banner"/>
                <a:ea typeface="Yu Mincho"/>
              </a:rPr>
              <a:t>Client-facing UI changes and dependency upkeep.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532180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50">
                <a:solidFill>
                  <a:srgbClr val="3A3530"/>
                </a:solidFill>
                <a:latin typeface="Corbel"/>
                <a:ea typeface="Yu Gothic UI"/>
              </a:rPr>
              <a:t>顧客向けUIの調整と依存関係の保守。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2 contributors  ·  ~56 hrs / week  ·  Lean dedicated team — hold capacity, document the pipeline.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2名・約56時間/週・小さく専属の体制。現状維持しつつ、文書化が要点。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APPAREL   ·  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08 / 17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44658C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4EEE3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D5CAB4"/>
                </a:solidFill>
                <a:latin typeface="Sitka Banner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D5CAB4"/>
                </a:solidFill>
                <a:latin typeface="Corbel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EE3"/>
                </a:solidFill>
                <a:latin typeface="Sitka Banner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09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10 / 17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進捗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NOW &amp;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Blueprint — now and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What's running, what's coming, who's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今、進めていること。次に取り掛かること。担うのは誰か。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898378"/>
                </a:solidFill>
                <a:latin typeface="Corbel"/>
                <a:ea typeface="Yu Gothic UI"/>
              </a:rPr>
              <a:t>NOW · 進行中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38728"/>
            <a:ext cx="502920" cy="19050"/>
          </a:xfrm>
          <a:prstGeom prst="rect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93192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· BOM · Scan running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 / BOM / Scan が本番稼働中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GPU / workflow decoupling — active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GPU・ワークフロー分離の改修中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Continuous testing +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継続的なテストと監視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6263640"/>
            <a:ext cx="82296" cy="82296"/>
          </a:xfrm>
          <a:prstGeom prst="ellipse">
            <a:avLst/>
          </a:prstGeom>
          <a:solidFill>
            <a:srgbClr val="898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172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Per-tenant configuration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37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テナント別設定への対応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54872"/>
                </a:solidFill>
                <a:latin typeface="Corbel"/>
                <a:ea typeface="Yu Gothic UI"/>
              </a:rPr>
              <a:t>NEXT · 60 DAYS · 次の60日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38728"/>
            <a:ext cx="50292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93192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New workflows tailored for specific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特定組織向けの新ワークフロー追加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70916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Stabilise + harden recently shipped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新規機能の安定化と強化検証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48640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5394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BP Check / BOM to first billed engineering 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 spc="50">
                <a:solidFill>
                  <a:srgbClr val="3A3530"/>
                </a:solidFill>
                <a:latin typeface="Corbel"/>
                <a:ea typeface="Yu Gothic UI"/>
              </a:rPr>
              <a:t>BP Check・BOMを初の有償運用へ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進捗 · BLUEPRINT   ·   NOW &amp;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11 / 17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体制 · 其ノ弐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BLUEPRINT ·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51211"/>
                </a:solidFill>
                <a:latin typeface="Sitka Banner"/>
                <a:ea typeface="Yu Mincho"/>
              </a:rPr>
              <a:t>The Blueprint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contributors carrying the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ブループリントを支える、四人。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587" y="3108960"/>
            <a:ext cx="2651760" cy="26974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3108960"/>
            <a:ext cx="2651760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9667" y="32918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400" b="1" i="0">
                <a:solidFill>
                  <a:srgbClr val="254872"/>
                </a:solidFill>
                <a:latin typeface="Sitka Banner"/>
                <a:ea typeface="Yu Mincho"/>
              </a:rPr>
              <a:t>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907" y="336499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907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907" y="4389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29046"/>
                </a:solidFill>
                <a:latin typeface="Sitka Banner"/>
                <a:ea typeface="Yu Mincho"/>
              </a:rPr>
              <a:t>≈ 32 h / wk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0907" y="4892040"/>
            <a:ext cx="36576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907" y="5029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51211"/>
                </a:solidFill>
                <a:latin typeface="Sitka Banner"/>
                <a:ea typeface="Yu Mincho"/>
              </a:rPr>
              <a:t>Owner of the workflow engine.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907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ワークフローエンジンの責任者。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5507" y="3108960"/>
            <a:ext cx="2651760" cy="26974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5507" y="3108960"/>
            <a:ext cx="2651760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8587" y="32918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400" b="1" i="0">
                <a:solidFill>
                  <a:srgbClr val="254872"/>
                </a:solidFill>
                <a:latin typeface="Sitka Banner"/>
                <a:ea typeface="Yu Mincho"/>
              </a:rPr>
              <a:t>統率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9827" y="336499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9827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9827" y="4389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29046"/>
                </a:solidFill>
                <a:latin typeface="Sitka Banner"/>
                <a:ea typeface="Yu Mincho"/>
              </a:rPr>
              <a:t>≈ 24 h / wk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49827" y="4892040"/>
            <a:ext cx="36576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9827" y="5029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51211"/>
                </a:solidFill>
                <a:latin typeface="Sitka Banner"/>
                <a:ea typeface="Yu Mincho"/>
              </a:rPr>
              <a:t>Cross-layer view, customer voice.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9827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全体設計と顧客対応の視点。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4427" y="3108960"/>
            <a:ext cx="2651760" cy="26974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4427" y="3108960"/>
            <a:ext cx="2651760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7507" y="32918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400" b="1" i="0">
                <a:solidFill>
                  <a:srgbClr val="254872"/>
                </a:solidFill>
                <a:latin typeface="Sitka Banner"/>
                <a:ea typeface="Yu Mincho"/>
              </a:rPr>
              <a:t>土台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747" y="336499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47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8747" y="4389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29046"/>
                </a:solidFill>
                <a:latin typeface="Sitka Banner"/>
                <a:ea typeface="Yu Mincho"/>
              </a:rPr>
              <a:t>≈ 24 h / wk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8747" y="4892040"/>
            <a:ext cx="36576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8747" y="5029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51211"/>
                </a:solidFill>
                <a:latin typeface="Sitka Banner"/>
                <a:ea typeface="Yu Mincho"/>
              </a:rPr>
              <a:t>Picked up infra ownership in full.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747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インフラを全面的に引き継ぎ。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3347" y="3108960"/>
            <a:ext cx="2651760" cy="269748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53347" y="3108960"/>
            <a:ext cx="2651760" cy="28575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36427" y="32918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400" b="1" i="0">
                <a:solidFill>
                  <a:srgbClr val="254872"/>
                </a:solidFill>
                <a:latin typeface="Sitka Banner"/>
                <a:ea typeface="Yu Mincho"/>
              </a:rPr>
              <a:t>補佐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7667" y="336499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7667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54872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7667" y="43891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29046"/>
                </a:solidFill>
                <a:latin typeface="Sitka Banner"/>
                <a:ea typeface="Yu Mincho"/>
              </a:rPr>
              <a:t>≈ 16 h / wk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27667" y="4892040"/>
            <a:ext cx="365760" cy="1524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7667" y="5029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151211"/>
                </a:solidFill>
                <a:latin typeface="Sitka Banner"/>
                <a:ea typeface="Yu Mincho"/>
              </a:rPr>
              <a:t>API, migrations, 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7667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 spc="50">
                <a:solidFill>
                  <a:srgbClr val="3A3530"/>
                </a:solidFill>
                <a:latin typeface="Corbel"/>
                <a:ea typeface="Yu Gothic UI"/>
              </a:rPr>
              <a:t>API・マイグレーション・依存関係。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4 contributors  ·  ~96 hrs / week  ·  Hold; +1 backend if client workflows scale.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4名・約96時間/週・現状維持。新案件が増える場合は+1名のバックエンドを検討。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体制 · BLUEPRINT   ·   THE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12 / 17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54872"/>
                </a:solidFill>
                <a:latin typeface="Corbel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54872"/>
                </a:solidFill>
                <a:latin typeface="Corbel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530"/>
                </a:solidFill>
                <a:latin typeface="Corbel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15030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54872"/>
                </a:solidFill>
                <a:latin typeface="Sitka Banner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15030"/>
                </a:solidFill>
                <a:latin typeface="Corbel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51211"/>
                </a:solidFill>
                <a:latin typeface="Sitka Banner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530"/>
                </a:solidFill>
                <a:latin typeface="Sitka Banner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13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54872"/>
                </a:solidFill>
                <a:latin typeface="Sitka Banner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4D3"/>
          </a:solidFill>
          <a:ln w="15875"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C29046"/>
                </a:solidFill>
                <a:latin typeface="Sitka Banner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54872"/>
                </a:solidFill>
                <a:latin typeface="Sitka Banner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51211"/>
                </a:solidFill>
                <a:latin typeface="Sitka Banner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98378"/>
                </a:solidFill>
                <a:latin typeface="Corbel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14 / 17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THE TEAM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1211"/>
                </a:solidFill>
                <a:latin typeface="Sitka Banner"/>
                <a:ea typeface="Yu Mincho"/>
              </a:rPr>
              <a:t>Six people, two products, two dedicated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Where the team currently sits — and where capacity could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二つのプロダクトに分かれる、六人の現在地と今後の調整余地。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B15030"/>
                </a:solidFill>
                <a:latin typeface="Corbel"/>
                <a:ea typeface="Yu Gothic UI"/>
              </a:rPr>
              <a:t>APPAREL  ·  2 人  ·  ~56 hrs /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548640" cy="1905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406908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Muzuva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977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ComfyUI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9776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40h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72000"/>
            <a:ext cx="82296" cy="82296"/>
          </a:xfrm>
          <a:prstGeom prst="ellipse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80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Crispus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80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805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254872"/>
                </a:solidFill>
                <a:latin typeface="Corbel"/>
                <a:ea typeface="Yu Gothic UI"/>
              </a:rPr>
              <a:t>BLUEPRINT  ·  4 人  ·  ~96 hrs /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548640" cy="1905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406908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977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&amp; Engine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9776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32h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57200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80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Ambrose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480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Systems &amp;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4805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24h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507492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983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Lauben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983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9834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24h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5577840"/>
            <a:ext cx="82296" cy="82296"/>
          </a:xfrm>
          <a:prstGeom prst="ellipse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51211"/>
                </a:solidFill>
                <a:latin typeface="Sitka Banner"/>
                <a:ea typeface="Yu Mincho"/>
              </a:rPr>
              <a:t>Otai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486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30"/>
                </a:solidFill>
                <a:latin typeface="Sitka Banner"/>
                <a:ea typeface="Yu Mincho"/>
              </a:rPr>
              <a:t>Backend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486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29046"/>
                </a:solidFill>
                <a:latin typeface="Sitka Banner"/>
                <a:ea typeface="Yu Mincho"/>
              </a:rPr>
              <a:t>16h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530"/>
                </a:solidFill>
                <a:latin typeface="Sitka Banner"/>
                <a:ea typeface="Yu Mincho"/>
              </a:rPr>
              <a:t>Two dedicated teams, no shared people.   Unique headcount: 6.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94360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4872"/>
                </a:solidFill>
                <a:latin typeface="Sitka Banner"/>
                <a:ea typeface="Yu Mincho"/>
              </a:rPr>
              <a:t>Open question  ·  Where does Japan-side capacity best slot in over the next 60 days?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530"/>
                </a:solidFill>
                <a:latin typeface="Corbel"/>
                <a:ea typeface="Yu Gothic UI"/>
              </a:rPr>
              <a:t>今後60日、日本側のリソースをどこに配置するのが最善か。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98378"/>
                </a:solidFill>
                <a:latin typeface="Corbel"/>
                <a:ea typeface="Yu Gothic UI"/>
              </a:rPr>
              <a:t>配置   ·   TEAM PICTURE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15 / 17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4EEE3"/>
                </a:solidFill>
                <a:latin typeface="Corbel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4EEE3"/>
                </a:solidFill>
                <a:latin typeface="Corbel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EEE3"/>
                </a:solidFill>
                <a:latin typeface="Sitka Banner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D5CAB4"/>
                </a:solidFill>
                <a:latin typeface="Corbel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15030"/>
                </a:solidFill>
                <a:latin typeface="Sitka Banner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EEE3"/>
                </a:solidFill>
                <a:latin typeface="Sitka Banner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5CAB4"/>
                </a:solidFill>
                <a:latin typeface="Sitka Banner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D5CAB4"/>
                </a:solidFill>
                <a:latin typeface="Corbel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446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D5CAB4"/>
                </a:solidFill>
                <a:latin typeface="Corbel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D5CAB4"/>
                </a:solidFill>
                <a:latin typeface="Corbel"/>
                <a:ea typeface="Yu Gothic UI"/>
              </a:rPr>
              <a:t>16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15030"/>
                </a:solidFill>
                <a:latin typeface="Corbel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15030"/>
                </a:solidFill>
                <a:latin typeface="Corbel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D5C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51211"/>
                </a:solidFill>
                <a:latin typeface="Sitka Banner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530"/>
                </a:solidFill>
                <a:latin typeface="Corbel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530"/>
                </a:solidFill>
                <a:latin typeface="Sitka Banner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15030"/>
                </a:solidFill>
                <a:latin typeface="Corbel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54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54872"/>
                </a:solidFill>
                <a:latin typeface="Corbel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51211"/>
                </a:solidFill>
                <a:latin typeface="Sitka Banner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530"/>
                </a:solidFill>
                <a:latin typeface="Sitka Banner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530"/>
                </a:solidFill>
                <a:latin typeface="Corbel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15030"/>
          </a:solidFill>
          <a:ln>
            <a:solidFill>
              <a:srgbClr val="B15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4EEE3"/>
                </a:solidFill>
                <a:latin typeface="Sitka Banner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98378"/>
                </a:solidFill>
                <a:latin typeface="Corbel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98378"/>
                </a:solidFill>
                <a:latin typeface="Corbel"/>
                <a:ea typeface="Yu Gothic UI"/>
              </a:rPr>
              <a:t>17 /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