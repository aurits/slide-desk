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2286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C9A26B"/>
                </a:solidFill>
                <a:latin typeface="Segoe UI"/>
              </a:rPr>
              <a:t>AIBOS  ·  STRATEGY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>
                <a:solidFill>
                  <a:srgbClr val="FAF7F2"/>
                </a:solidFill>
                <a:latin typeface="Georgia"/>
              </a:rPr>
              <a:t>Designing the</a:t>
            </a:r>
          </a:p>
          <a:p>
            <a:pPr algn="l"/>
            <a:r>
              <a:rPr sz="6000" b="0">
                <a:solidFill>
                  <a:srgbClr val="FAF7F2"/>
                </a:solidFill>
                <a:latin typeface="Georgia"/>
              </a:rPr>
              <a:t>next decade of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9D2C7"/>
                </a:solidFill>
                <a:latin typeface="Segoe UI"/>
              </a:rPr>
              <a:t>A premium sample built with python-pptx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400">
                <a:solidFill>
                  <a:srgbClr val="6B7380"/>
                </a:solidFill>
                <a:latin typeface="Segoe UI"/>
              </a:rPr>
              <a:t>April 2026   · 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09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400">
                <a:solidFill>
                  <a:srgbClr val="6B7380"/>
                </a:solidFill>
                <a:latin typeface="Segoe UI"/>
              </a:rPr>
              <a:t>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C9A26B"/>
                </a:solidFill>
                <a:latin typeface="Segoe UI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" cy="15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0B1F3A"/>
                </a:solidFill>
                <a:latin typeface="Georgia"/>
              </a:rPr>
              <a:t>What we'll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9A26B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Segoe UI"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8346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380"/>
                </a:solidFill>
                <a:latin typeface="Segoe UI"/>
              </a:rPr>
              <a:t>Where the market stands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20440"/>
            <a:ext cx="10698480" cy="6350"/>
          </a:xfrm>
          <a:prstGeom prst="rect">
            <a:avLst/>
          </a:prstGeom>
          <a:solidFill>
            <a:srgbClr val="D9D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9A26B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703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Segoe UI"/>
              </a:rPr>
              <a:t>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033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380"/>
                </a:solidFill>
                <a:latin typeface="Segoe UI"/>
              </a:rPr>
              <a:t>The gap we're positioned to close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10698480" cy="6350"/>
          </a:xfrm>
          <a:prstGeom prst="rect">
            <a:avLst/>
          </a:prstGeom>
          <a:solidFill>
            <a:srgbClr val="D9D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9A26B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572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Segoe UI"/>
              </a:rPr>
              <a:t>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5720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380"/>
                </a:solidFill>
                <a:latin typeface="Segoe UI"/>
              </a:rPr>
              <a:t>Three principles shaping the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57800"/>
            <a:ext cx="10698480" cy="6350"/>
          </a:xfrm>
          <a:prstGeom prst="rect">
            <a:avLst/>
          </a:prstGeom>
          <a:solidFill>
            <a:srgbClr val="D9D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9A26B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440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Segoe UI"/>
              </a:rP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440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380"/>
                </a:solidFill>
                <a:latin typeface="Segoe UI"/>
              </a:rPr>
              <a:t>Early signal from pilot customers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126480"/>
            <a:ext cx="10698480" cy="6350"/>
          </a:xfrm>
          <a:prstGeom prst="rect">
            <a:avLst/>
          </a:prstGeom>
          <a:solidFill>
            <a:srgbClr val="D9D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300">
                <a:solidFill>
                  <a:srgbClr val="6B7380"/>
                </a:solidFill>
                <a:latin typeface="Segoe UI"/>
              </a:rP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200">
                <a:solidFill>
                  <a:srgbClr val="6B7380"/>
                </a:solidFill>
                <a:latin typeface="Segoe U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C9A26B"/>
                </a:solidFill>
                <a:latin typeface="Segoe UI"/>
              </a:rPr>
              <a:t>SECTION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0" cy="2286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AF7F2"/>
                </a:solidFill>
                <a:latin typeface="Georgia"/>
              </a:rPr>
              <a:t>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9D2C7"/>
                </a:solidFill>
                <a:latin typeface="Georgia"/>
              </a:rPr>
              <a:t>A $48B category is being rebuilt from the data layer up —</a:t>
            </a:r>
          </a:p>
          <a:p>
            <a:pPr algn="l"/>
            <a:r>
              <a:rPr sz="1800" b="0">
                <a:solidFill>
                  <a:srgbClr val="D9D2C7"/>
                </a:solidFill>
                <a:latin typeface="Georgia"/>
              </a:rPr>
              <a:t>and the incumbents can't move fast enough to defend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200">
                <a:solidFill>
                  <a:srgbClr val="D9D2C7"/>
                </a:solidFill>
                <a:latin typeface="Segoe U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C9A26B"/>
                </a:solidFill>
                <a:latin typeface="Segoe UI"/>
              </a:rPr>
              <a:t>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" cy="15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0B1F3A"/>
                </a:solidFill>
                <a:latin typeface="Georgia"/>
              </a:rPr>
              <a:t>Three principles shaping the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320040" cy="381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400">
                <a:solidFill>
                  <a:srgbClr val="C9A26B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B1F3A"/>
                </a:solidFill>
                <a:latin typeface="Georgia"/>
              </a:rPr>
              <a:t>Clarity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4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Segoe UI"/>
              </a:rPr>
              <a:t>Every interface answers one question: what should I do next?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Segoe UI"/>
              </a:rPr>
              <a:t>We strip decisions down to the one that matters in context — no dashboards for their own sake.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834640"/>
            <a:ext cx="320040" cy="381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063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400">
                <a:solidFill>
                  <a:srgbClr val="C9A26B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3375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B1F3A"/>
                </a:solidFill>
                <a:latin typeface="Georgia"/>
              </a:rP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97764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Segoe UI"/>
              </a:rPr>
              <a:t>Every number is reproducible from source to screen in under three clicks.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89204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Segoe UI"/>
              </a:rPr>
              <a:t>Auditability isn't a compliance checkbox — it's how users develop confidence in the product.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834640"/>
            <a:ext cx="320040" cy="381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063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400">
                <a:solidFill>
                  <a:srgbClr val="C9A26B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375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B1F3A"/>
                </a:solidFill>
                <a:latin typeface="Georgia"/>
              </a:rPr>
              <a:t>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97764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Segoe UI"/>
              </a:rPr>
              <a:t>Every interaction budget is measured in milliseconds, not seconds.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9204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Segoe UI"/>
              </a:rPr>
              <a:t>Latency is a feature. We instrument p95 on the hot paths and treat regressions as bugs.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300">
                <a:solidFill>
                  <a:srgbClr val="6B7380"/>
                </a:solidFill>
                <a:latin typeface="Segoe UI"/>
              </a:rPr>
              <a:t>APPROACH  · 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200">
                <a:solidFill>
                  <a:srgbClr val="6B7380"/>
                </a:solidFill>
                <a:latin typeface="Segoe U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C9A26B"/>
                </a:solidFill>
                <a:latin typeface="Segoe U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457200" cy="15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0B1F3A"/>
                </a:solidFill>
                <a:latin typeface="Georgia"/>
              </a:rPr>
              <a:t>Early signal from pilot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>
                <a:solidFill>
                  <a:srgbClr val="0B1F3A"/>
                </a:solidFill>
                <a:latin typeface="Georgia"/>
              </a:rPr>
              <a:t>94%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51960"/>
            <a:ext cx="365760" cy="15240"/>
          </a:xfrm>
          <a:prstGeom prst="rect">
            <a:avLst/>
          </a:prstGeom>
          <a:solidFill>
            <a:srgbClr val="E0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Segoe UI"/>
              </a:rPr>
              <a:t>reduction in reconciliation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83464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>
                <a:solidFill>
                  <a:srgbClr val="0B1F3A"/>
                </a:solidFill>
                <a:latin typeface="Georgia"/>
              </a:rPr>
              <a:t>3.2×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251960"/>
            <a:ext cx="365760" cy="15240"/>
          </a:xfrm>
          <a:prstGeom prst="rect">
            <a:avLst/>
          </a:prstGeom>
          <a:solidFill>
            <a:srgbClr val="E0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44805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Segoe UI"/>
              </a:rPr>
              <a:t>faster month-end close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3464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>
                <a:solidFill>
                  <a:srgbClr val="0B1F3A"/>
                </a:solidFill>
                <a:latin typeface="Georgia"/>
              </a:rPr>
              <a:t>&lt;40ms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4251960"/>
            <a:ext cx="365760" cy="15240"/>
          </a:xfrm>
          <a:prstGeom prst="rect">
            <a:avLst/>
          </a:prstGeom>
          <a:solidFill>
            <a:srgbClr val="E05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4805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Segoe UI"/>
              </a:rPr>
              <a:t>p95 query 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37760"/>
            <a:ext cx="22860" cy="128016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B1F3A"/>
                </a:solidFill>
                <a:latin typeface="Georgia"/>
              </a:rPr>
              <a:t>“It replaced four tools and a spreadsheet. That never happens.”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200">
                <a:solidFill>
                  <a:srgbClr val="6B7380"/>
                </a:solidFill>
                <a:latin typeface="Segoe UI"/>
              </a:rPr>
              <a:t>— Head of Finance Ops, Series C fintech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300">
                <a:solidFill>
                  <a:srgbClr val="6B7380"/>
                </a:solidFill>
                <a:latin typeface="Segoe UI"/>
              </a:rPr>
              <a:t>RESULTS  · 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200">
                <a:solidFill>
                  <a:srgbClr val="6B7380"/>
                </a:solidFill>
                <a:latin typeface="Segoe U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2286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600">
                <a:solidFill>
                  <a:srgbClr val="C9A26B"/>
                </a:solidFill>
                <a:latin typeface="Segoe U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>
                <a:solidFill>
                  <a:srgbClr val="FAF7F2"/>
                </a:solidFill>
                <a:latin typeface="Georgia"/>
              </a:rPr>
              <a:t>Let's build</a:t>
            </a:r>
          </a:p>
          <a:p>
            <a:pPr algn="l"/>
            <a:r>
              <a:rPr sz="6000" b="0">
                <a:solidFill>
                  <a:srgbClr val="FAF7F2"/>
                </a:solidFill>
                <a:latin typeface="Georgia"/>
              </a:rPr>
              <a:t>something worth</a:t>
            </a:r>
          </a:p>
          <a:p>
            <a:pPr algn="l"/>
            <a:r>
              <a:rPr sz="6000" b="0">
                <a:solidFill>
                  <a:srgbClr val="FAF7F2"/>
                </a:solidFill>
                <a:latin typeface="Georgia"/>
              </a:rPr>
              <a:t>keeping.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500">
                <a:solidFill>
                  <a:srgbClr val="C9A26B"/>
                </a:solidFill>
                <a:latin typeface="Segoe UI"/>
              </a:rP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7F2"/>
                </a:solidFill>
                <a:latin typeface="Segoe UI"/>
              </a:rPr>
              <a:t>alanda.ambrose@aibos.co.jp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394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500">
                <a:solidFill>
                  <a:srgbClr val="C9A26B"/>
                </a:solidFill>
                <a:latin typeface="Segoe UI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760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AF7F2"/>
                </a:solidFill>
                <a:latin typeface="Segoe UI"/>
              </a:rPr>
              <a:t>30-min walkthrough · Week of Apr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200">
                <a:solidFill>
                  <a:srgbClr val="D9D2C7"/>
                </a:solidFill>
                <a:latin typeface="Segoe UI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