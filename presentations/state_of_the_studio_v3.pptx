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0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03B5A"/>
                </a:solidFill>
                <a:latin typeface="Segoe UI"/>
                <a:ea typeface="Yu Gothic UI"/>
              </a:rPr>
              <a:t>AIBOS   ·   CREATE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051560"/>
            <a:ext cx="640080" cy="1905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0" b="1" i="0" spc="500">
                <a:solidFill>
                  <a:srgbClr val="1A1713"/>
                </a:solidFill>
                <a:latin typeface="Georgia"/>
                <a:ea typeface="Yu Mincho"/>
              </a:rPr>
              <a:t>工 房 便 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0" i="0">
                <a:solidFill>
                  <a:srgbClr val="203B5A"/>
                </a:solidFill>
                <a:latin typeface="Georgia"/>
                <a:ea typeface="Yu Mincho"/>
              </a:rPr>
              <a:t>State of the Studio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6344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1">
                <a:solidFill>
                  <a:srgbClr val="3A3732"/>
                </a:solidFill>
                <a:latin typeface="Georgia"/>
                <a:ea typeface="Yu Mincho"/>
              </a:rPr>
              <a:t>What we've been making.  And how.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663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 spc="100">
                <a:solidFill>
                  <a:srgbClr val="3A3732"/>
                </a:solidFill>
                <a:latin typeface="Segoe UI"/>
                <a:ea typeface="Yu Gothic UI"/>
              </a:rPr>
              <a:t>作ってきたもの、そしてその作り方について。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217920"/>
            <a:ext cx="10424160" cy="6350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3093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300">
                <a:solidFill>
                  <a:srgbClr val="3A3732"/>
                </a:solidFill>
                <a:latin typeface="Segoe UI"/>
                <a:ea typeface="Yu Gothic UI"/>
              </a:rPr>
              <a:t>Q2 · 2026年春   ·   Spring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630936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 spc="500">
                <a:solidFill>
                  <a:srgbClr val="3A3732"/>
                </a:solidFill>
                <a:latin typeface="Segoe UI"/>
                <a:ea typeface="Yu Gothic UI"/>
              </a:rPr>
              <a:t>FOR THE BOARD   ·   取締役会用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698480" y="1554480"/>
            <a:ext cx="868680" cy="868680"/>
          </a:xfrm>
          <a:prstGeom prst="rect">
            <a:avLst/>
          </a:prstGeom>
          <a:solidFill>
            <a:srgbClr val="B23A2E"/>
          </a:solidFill>
          <a:ln>
            <a:solidFill>
              <a:srgbClr val="B2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0" y="1554480"/>
            <a:ext cx="8686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400" b="1" i="0">
                <a:solidFill>
                  <a:srgbClr val="F5EFE2"/>
                </a:solidFill>
                <a:latin typeface="Georgia"/>
                <a:ea typeface="Yu Mincho"/>
              </a:rPr>
              <a:t>創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23A2E"/>
                </a:solidFill>
                <a:latin typeface="Segoe UI"/>
                <a:ea typeface="Yu Gothic UI"/>
              </a:rPr>
              <a:t>拝啓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B23A2E"/>
                </a:solidFill>
                <a:latin typeface="Segoe UI"/>
                <a:ea typeface="Yu Gothic UI"/>
              </a:rPr>
              <a:t>A LETTER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4688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0" i="1">
                <a:solidFill>
                  <a:srgbClr val="1A1713"/>
                </a:solidFill>
                <a:latin typeface="Georgia"/>
                <a:ea typeface="Yu Mincho"/>
              </a:rPr>
              <a:t>You asked what Create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1546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0" i="1">
                <a:solidFill>
                  <a:srgbClr val="1A1713"/>
                </a:solidFill>
                <a:latin typeface="Georgia"/>
                <a:ea typeface="Yu Mincho"/>
              </a:rPr>
              <a:t>has been working 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1148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203B5A"/>
                </a:solidFill>
                <a:latin typeface="Georgia"/>
                <a:ea typeface="Yu Mincho"/>
              </a:rPr>
              <a:t>Here's what we'd like to show you.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5349240"/>
            <a:ext cx="731520" cy="1905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557784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 spc="100">
                <a:solidFill>
                  <a:srgbClr val="3A3732"/>
                </a:solidFill>
                <a:latin typeface="Segoe UI"/>
                <a:ea typeface="Yu Gothic UI"/>
              </a:rPr>
              <a:t>これまで作ってきたものを、お見せに参りました。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B8A85"/>
                </a:solidFill>
                <a:latin typeface="Segoe UI"/>
                <a:ea typeface="Yu Gothic UI"/>
              </a:rPr>
              <a:t>拝啓   ·   A LETTER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B8A85"/>
                </a:solidFill>
                <a:latin typeface="Segoe UI"/>
                <a:ea typeface="Yu Gothic UI"/>
              </a:rPr>
              <a:t>02 / 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23A2E"/>
                </a:solidFill>
                <a:latin typeface="Segoe UI"/>
                <a:ea typeface="Yu Gothic UI"/>
              </a:rPr>
              <a:t>工房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B23A2E"/>
                </a:solidFill>
                <a:latin typeface="Segoe UI"/>
                <a:ea typeface="Yu Gothic UI"/>
              </a:rPr>
              <a:t>THE STUDIO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1A1713"/>
                </a:solidFill>
                <a:latin typeface="Georgia"/>
                <a:ea typeface="Yu Mincho"/>
              </a:rPr>
              <a:t>Seven makers.  One workshop.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 spc="100">
                <a:solidFill>
                  <a:srgbClr val="3A3732"/>
                </a:solidFill>
                <a:latin typeface="Segoe UI"/>
                <a:ea typeface="Yu Gothic UI"/>
              </a:rPr>
              <a:t>七人の職人が、一つの工房で働いています。</a:t>
            </a:r>
          </a:p>
        </p:txBody>
      </p:sp>
      <p:sp>
        <p:nvSpPr>
          <p:cNvPr id="8" name="Oval 7"/>
          <p:cNvSpPr/>
          <p:nvPr/>
        </p:nvSpPr>
        <p:spPr>
          <a:xfrm>
            <a:off x="2011680" y="3657600"/>
            <a:ext cx="237744" cy="237744"/>
          </a:xfrm>
          <a:prstGeom prst="ellipse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2004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300">
                <a:solidFill>
                  <a:srgbClr val="203B5A"/>
                </a:solidFill>
                <a:latin typeface="Segoe UI"/>
                <a:ea typeface="Yu Gothic UI"/>
              </a:rPr>
              <a:t>統率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95020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A1713"/>
                </a:solidFill>
                <a:latin typeface="Georgia"/>
                <a:ea typeface="Yu Mincho"/>
              </a:rPr>
              <a:t>Ambrose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25196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732"/>
                </a:solidFill>
                <a:latin typeface="Segoe UI"/>
                <a:ea typeface="Yu Gothic UI"/>
              </a:rPr>
              <a:t>Systems &amp; Product</a:t>
            </a:r>
          </a:p>
        </p:txBody>
      </p:sp>
      <p:sp>
        <p:nvSpPr>
          <p:cNvPr id="12" name="Oval 11"/>
          <p:cNvSpPr/>
          <p:nvPr/>
        </p:nvSpPr>
        <p:spPr>
          <a:xfrm>
            <a:off x="4663440" y="3657600"/>
            <a:ext cx="237744" cy="237744"/>
          </a:xfrm>
          <a:prstGeom prst="ellipse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32004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300">
                <a:solidFill>
                  <a:srgbClr val="203B5A"/>
                </a:solidFill>
                <a:latin typeface="Segoe UI"/>
                <a:ea typeface="Yu Gothic UI"/>
              </a:rPr>
              <a:t>仕組み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95020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A1713"/>
                </a:solidFill>
                <a:latin typeface="Georgia"/>
                <a:ea typeface="Yu Mincho"/>
              </a:rPr>
              <a:t>Aita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425196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732"/>
                </a:solidFill>
                <a:latin typeface="Segoe UI"/>
                <a:ea typeface="Yu Gothic UI"/>
              </a:rPr>
              <a:t>Workflow Engine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0" y="3657600"/>
            <a:ext cx="237744" cy="237744"/>
          </a:xfrm>
          <a:prstGeom prst="ellipse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2004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300">
                <a:solidFill>
                  <a:srgbClr val="203B5A"/>
                </a:solidFill>
                <a:latin typeface="Segoe UI"/>
                <a:ea typeface="Yu Gothic UI"/>
              </a:rPr>
              <a:t>基盤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95020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A1713"/>
                </a:solidFill>
                <a:latin typeface="Georgia"/>
                <a:ea typeface="Yu Mincho"/>
              </a:rPr>
              <a:t>Muzuva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425196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732"/>
                </a:solidFill>
                <a:latin typeface="Segoe UI"/>
                <a:ea typeface="Yu Gothic UI"/>
              </a:rPr>
              <a:t>Backend &amp; Pipeline</a:t>
            </a:r>
          </a:p>
        </p:txBody>
      </p:sp>
      <p:sp>
        <p:nvSpPr>
          <p:cNvPr id="20" name="Oval 19"/>
          <p:cNvSpPr/>
          <p:nvPr/>
        </p:nvSpPr>
        <p:spPr>
          <a:xfrm>
            <a:off x="9966959" y="3657600"/>
            <a:ext cx="237744" cy="237744"/>
          </a:xfrm>
          <a:prstGeom prst="ellipse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19" y="32004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300">
                <a:solidFill>
                  <a:srgbClr val="203B5A"/>
                </a:solidFill>
                <a:latin typeface="Segoe UI"/>
                <a:ea typeface="Yu Gothic UI"/>
              </a:rPr>
              <a:t>運用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19" y="395020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A1713"/>
                </a:solidFill>
                <a:latin typeface="Georgia"/>
                <a:ea typeface="Yu Mincho"/>
              </a:rPr>
              <a:t>Rodrick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39" y="425196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732"/>
                </a:solidFill>
                <a:latin typeface="Segoe UI"/>
                <a:ea typeface="Yu Gothic UI"/>
              </a:rPr>
              <a:t>Deployment</a:t>
            </a:r>
          </a:p>
        </p:txBody>
      </p:sp>
      <p:sp>
        <p:nvSpPr>
          <p:cNvPr id="24" name="Oval 23"/>
          <p:cNvSpPr/>
          <p:nvPr/>
        </p:nvSpPr>
        <p:spPr>
          <a:xfrm>
            <a:off x="3337560" y="5120640"/>
            <a:ext cx="237744" cy="237744"/>
          </a:xfrm>
          <a:prstGeom prst="ellipse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31720" y="46634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300">
                <a:solidFill>
                  <a:srgbClr val="203B5A"/>
                </a:solidFill>
                <a:latin typeface="Segoe UI"/>
                <a:ea typeface="Yu Gothic UI"/>
              </a:rPr>
              <a:t>土台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31720" y="541324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A1713"/>
                </a:solidFill>
                <a:latin typeface="Georgia"/>
                <a:ea typeface="Yu Mincho"/>
              </a:rPr>
              <a:t>Lauben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48840" y="571500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732"/>
                </a:solidFill>
                <a:latin typeface="Segoe UI"/>
                <a:ea typeface="Yu Gothic UI"/>
              </a:rPr>
              <a:t>Infrastructure</a:t>
            </a:r>
          </a:p>
        </p:txBody>
      </p:sp>
      <p:sp>
        <p:nvSpPr>
          <p:cNvPr id="28" name="Oval 27"/>
          <p:cNvSpPr/>
          <p:nvPr/>
        </p:nvSpPr>
        <p:spPr>
          <a:xfrm>
            <a:off x="5989320" y="5120640"/>
            <a:ext cx="237744" cy="237744"/>
          </a:xfrm>
          <a:prstGeom prst="ellipse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83480" y="46634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300">
                <a:solidFill>
                  <a:srgbClr val="203B5A"/>
                </a:solidFill>
                <a:latin typeface="Segoe UI"/>
                <a:ea typeface="Yu Gothic UI"/>
              </a:rPr>
              <a:t>表層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83480" y="541324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A1713"/>
                </a:solidFill>
                <a:latin typeface="Georgia"/>
                <a:ea typeface="Yu Mincho"/>
              </a:rPr>
              <a:t>Crispus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0" y="571500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732"/>
                </a:solidFill>
                <a:latin typeface="Segoe UI"/>
                <a:ea typeface="Yu Gothic UI"/>
              </a:rPr>
              <a:t>Interface</a:t>
            </a:r>
          </a:p>
        </p:txBody>
      </p:sp>
      <p:sp>
        <p:nvSpPr>
          <p:cNvPr id="32" name="Oval 31"/>
          <p:cNvSpPr/>
          <p:nvPr/>
        </p:nvSpPr>
        <p:spPr>
          <a:xfrm>
            <a:off x="8641080" y="5120640"/>
            <a:ext cx="237744" cy="237744"/>
          </a:xfrm>
          <a:prstGeom prst="ellipse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35240" y="46634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300">
                <a:solidFill>
                  <a:srgbClr val="203B5A"/>
                </a:solidFill>
                <a:latin typeface="Segoe UI"/>
                <a:ea typeface="Yu Gothic UI"/>
              </a:rPr>
              <a:t>補佐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35240" y="541324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A1713"/>
                </a:solidFill>
                <a:latin typeface="Georgia"/>
                <a:ea typeface="Yu Mincho"/>
              </a:rPr>
              <a:t>Otai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571500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732"/>
                </a:solidFill>
                <a:latin typeface="Segoe UI"/>
                <a:ea typeface="Yu Gothic UI"/>
              </a:rPr>
              <a:t>Backend Support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" y="6035040"/>
            <a:ext cx="10515600" cy="6350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61722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3A3732"/>
                </a:solidFill>
                <a:latin typeface="Georgia"/>
                <a:ea typeface="Yu Mincho"/>
              </a:rPr>
              <a:t>Small enough to move as one.  Large enough to ship two products at once.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B8A85"/>
                </a:solidFill>
                <a:latin typeface="Segoe UI"/>
                <a:ea typeface="Yu Gothic UI"/>
              </a:rPr>
              <a:t>工房 · 第一章   ·   THE STUDIO · CHAPTER ONE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B8A85"/>
                </a:solidFill>
                <a:latin typeface="Segoe UI"/>
                <a:ea typeface="Yu Gothic UI"/>
              </a:rPr>
              <a:t>03 / 11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23A2E"/>
                </a:solidFill>
                <a:latin typeface="Segoe UI"/>
                <a:ea typeface="Yu Gothic UI"/>
              </a:rPr>
              <a:t>流儀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B23A2E"/>
                </a:solidFill>
                <a:latin typeface="Segoe UI"/>
                <a:ea typeface="Yu Gothic UI"/>
              </a:rPr>
              <a:t>OUR WAY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1">
                <a:solidFill>
                  <a:srgbClr val="3A3732"/>
                </a:solidFill>
                <a:latin typeface="Georgia"/>
                <a:ea typeface="Yu Mincho"/>
              </a:rPr>
              <a:t>Three simple ideas guide everything.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17520"/>
            <a:ext cx="34747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203B5A"/>
                </a:solidFill>
                <a:latin typeface="Georgia"/>
                <a:ea typeface="Yu Mincho"/>
              </a:rPr>
              <a:t>Clarity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11480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 spc="300">
                <a:solidFill>
                  <a:srgbClr val="B23A2E"/>
                </a:solidFill>
                <a:latin typeface="Georgia"/>
                <a:ea typeface="Yu Mincho"/>
              </a:rPr>
              <a:t>明晰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937760"/>
            <a:ext cx="457200" cy="1270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074920"/>
            <a:ext cx="3474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1">
                <a:solidFill>
                  <a:srgbClr val="3A3732"/>
                </a:solidFill>
                <a:latin typeface="Georgia"/>
                <a:ea typeface="Yu Mincho"/>
              </a:rPr>
              <a:t>We only build what we can explain to a customer.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017520"/>
            <a:ext cx="34747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203B5A"/>
                </a:solidFill>
                <a:latin typeface="Georgia"/>
                <a:ea typeface="Yu Mincho"/>
              </a:rPr>
              <a:t>Discipline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411480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 spc="300">
                <a:solidFill>
                  <a:srgbClr val="B23A2E"/>
                </a:solidFill>
                <a:latin typeface="Georgia"/>
                <a:ea typeface="Yu Mincho"/>
              </a:rPr>
              <a:t>規律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4937760"/>
            <a:ext cx="457200" cy="1270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5074920"/>
            <a:ext cx="3474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1">
                <a:solidFill>
                  <a:srgbClr val="3A3732"/>
                </a:solidFill>
                <a:latin typeface="Georgia"/>
                <a:ea typeface="Yu Mincho"/>
              </a:rPr>
              <a:t>Nothing ships until it is ready.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017520"/>
            <a:ext cx="34747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203B5A"/>
                </a:solidFill>
                <a:latin typeface="Georgia"/>
                <a:ea typeface="Yu Mincho"/>
              </a:rPr>
              <a:t>Compounding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411480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 spc="300">
                <a:solidFill>
                  <a:srgbClr val="B23A2E"/>
                </a:solidFill>
                <a:latin typeface="Georgia"/>
                <a:ea typeface="Yu Mincho"/>
              </a:rPr>
              <a:t>積重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4937760"/>
            <a:ext cx="457200" cy="1270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5074920"/>
            <a:ext cx="3474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1">
                <a:solidFill>
                  <a:srgbClr val="3A3732"/>
                </a:solidFill>
                <a:latin typeface="Georgia"/>
                <a:ea typeface="Yu Mincho"/>
              </a:rPr>
              <a:t>Every quarter ends better than the last.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B8A85"/>
                </a:solidFill>
                <a:latin typeface="Segoe UI"/>
                <a:ea typeface="Yu Gothic UI"/>
              </a:rPr>
              <a:t>流儀 · 第二章   ·   OUR WAY · CHAPTER TWO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B8A85"/>
                </a:solidFill>
                <a:latin typeface="Segoe UI"/>
                <a:ea typeface="Yu Gothic UI"/>
              </a:rPr>
              <a:t>04 / 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40080"/>
            <a:ext cx="22860" cy="576072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6400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B23A2E"/>
                </a:solidFill>
                <a:latin typeface="Segoe UI"/>
                <a:ea typeface="Yu Gothic UI"/>
              </a:rPr>
              <a:t>WORK I   ·   作品 其ノ壱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051560"/>
            <a:ext cx="10058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 i="0">
                <a:solidFill>
                  <a:srgbClr val="1A1713"/>
                </a:solidFill>
                <a:latin typeface="Georgia"/>
                <a:ea typeface="Yu Mincho"/>
              </a:rPr>
              <a:t>Apparel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9659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3A3732"/>
                </a:solidFill>
                <a:latin typeface="Georgia"/>
                <a:ea typeface="Yu Mincho"/>
              </a:rPr>
              <a:t>A product photo becomes a full fashion campaign.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3317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 spc="100">
                <a:solidFill>
                  <a:srgbClr val="3A3732"/>
                </a:solidFill>
                <a:latin typeface="Segoe UI"/>
                <a:ea typeface="Yu Gothic UI"/>
              </a:rPr>
              <a:t>一枚の商品写真から、プロ仕様のキャンペーンへ。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3108960"/>
            <a:ext cx="640080" cy="1905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33756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1A1713"/>
                </a:solidFill>
                <a:latin typeface="Georgia"/>
                <a:ea typeface="Yu Mincho"/>
              </a:rPr>
              <a:t>A brand uploads one photo of a garment.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977639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1A1713"/>
                </a:solidFill>
                <a:latin typeface="Georgia"/>
                <a:ea typeface="Yu Mincho"/>
              </a:rPr>
              <a:t>They choose the models, the backgrounds, the mood.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61772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1A1713"/>
                </a:solidFill>
                <a:latin typeface="Georgia"/>
                <a:ea typeface="Yu Mincho"/>
              </a:rPr>
              <a:t>In the time it takes to pour a coffee, a full campaign returns 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534924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203B5A"/>
                </a:solidFill>
                <a:latin typeface="Georgia"/>
                <a:ea typeface="Yu Mincho"/>
              </a:rPr>
              <a:t>every look, every angle, ready to publish.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B8A85"/>
                </a:solidFill>
                <a:latin typeface="Segoe UI"/>
                <a:ea typeface="Yu Gothic UI"/>
              </a:rPr>
              <a:t>作品 其ノ壱 · 情景   ·   WORK I · THE SCENE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B8A85"/>
                </a:solidFill>
                <a:latin typeface="Segoe UI"/>
                <a:ea typeface="Yu Gothic UI"/>
              </a:rPr>
              <a:t>05 / 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23A2E"/>
                </a:solidFill>
                <a:latin typeface="Segoe UI"/>
                <a:ea typeface="Yu Gothic UI"/>
              </a:rPr>
              <a:t>作品 其ノ壱 · 変化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B23A2E"/>
                </a:solidFill>
                <a:latin typeface="Segoe UI"/>
                <a:ea typeface="Yu Gothic UI"/>
              </a:rPr>
              <a:t>WORK I · WHAT CHANGES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A1713"/>
                </a:solidFill>
                <a:latin typeface="Georgia"/>
                <a:ea typeface="Yu Mincho"/>
              </a:rPr>
              <a:t>What changes for the people who use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 spc="100">
                <a:solidFill>
                  <a:srgbClr val="3A3732"/>
                </a:solidFill>
                <a:latin typeface="Segoe UI"/>
                <a:ea typeface="Yu Gothic UI"/>
              </a:rPr>
              <a:t>使う人にとって、何が変わるのか。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089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8B8A85"/>
                </a:solidFill>
                <a:latin typeface="Segoe UI"/>
                <a:ea typeface="Yu Gothic UI"/>
              </a:rPr>
              <a:t>BEFORE   ·   以前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566160"/>
            <a:ext cx="365760" cy="12700"/>
          </a:xfrm>
          <a:prstGeom prst="rect">
            <a:avLst/>
          </a:prstGeom>
          <a:solidFill>
            <a:srgbClr val="8B8A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749040"/>
            <a:ext cx="493776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 i="1">
                <a:solidFill>
                  <a:srgbClr val="8B8A85"/>
                </a:solidFill>
                <a:latin typeface="Georgia"/>
                <a:ea typeface="Yu Mincho"/>
              </a:rPr>
              <a:t>A campaign took weeks to arrange.</a:t>
            </a:r>
          </a:p>
          <a:p>
            <a:pPr algn="l">
              <a:lnSpc>
                <a:spcPct val="150000"/>
              </a:lnSpc>
            </a:pPr>
            <a:r>
              <a:rPr sz="1800" b="0" i="1">
                <a:solidFill>
                  <a:srgbClr val="8B8A85"/>
                </a:solidFill>
                <a:latin typeface="Georgia"/>
                <a:ea typeface="Yu Mincho"/>
              </a:rPr>
              <a:t>A studio, a model, a stylist, a flight.</a:t>
            </a:r>
          </a:p>
          <a:p>
            <a:pPr algn="l">
              <a:lnSpc>
                <a:spcPct val="150000"/>
              </a:lnSpc>
            </a:pPr>
            <a:r>
              <a:rPr sz="1800" b="0" i="1">
                <a:solidFill>
                  <a:srgbClr val="8B8A85"/>
                </a:solidFill>
                <a:latin typeface="Georgia"/>
                <a:ea typeface="Yu Mincho"/>
              </a:rPr>
              <a:t>One product, one set of photos.</a:t>
            </a:r>
          </a:p>
          <a:p>
            <a:pPr algn="l">
              <a:lnSpc>
                <a:spcPct val="150000"/>
              </a:lnSpc>
            </a:pPr>
            <a:r>
              <a:rPr sz="1800" b="0" i="1">
                <a:solidFill>
                  <a:srgbClr val="8B8A85"/>
                </a:solidFill>
                <a:latin typeface="Georgia"/>
                <a:ea typeface="Yu Mincho"/>
              </a:rPr>
              <a:t>Only the biggest brands could afford a full catalogue.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1089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B23A2E"/>
                </a:solidFill>
                <a:latin typeface="Segoe UI"/>
                <a:ea typeface="Yu Gothic UI"/>
              </a:rPr>
              <a:t>AFTER   ·   以後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3566160"/>
            <a:ext cx="365760" cy="1905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749040"/>
            <a:ext cx="493776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1" i="0">
                <a:solidFill>
                  <a:srgbClr val="1A1713"/>
                </a:solidFill>
                <a:latin typeface="Georgia"/>
                <a:ea typeface="Yu Mincho"/>
              </a:rPr>
              <a:t>A campaign is ready in a morning.</a:t>
            </a:r>
          </a:p>
          <a:p>
            <a:pPr algn="l">
              <a:lnSpc>
                <a:spcPct val="150000"/>
              </a:lnSpc>
            </a:pPr>
            <a:r>
              <a:rPr sz="1800" b="1" i="0">
                <a:solidFill>
                  <a:srgbClr val="1A1713"/>
                </a:solidFill>
                <a:latin typeface="Georgia"/>
                <a:ea typeface="Yu Mincho"/>
              </a:rPr>
              <a:t>One product photo becomes a full catalogue.</a:t>
            </a:r>
          </a:p>
          <a:p>
            <a:pPr algn="l">
              <a:lnSpc>
                <a:spcPct val="150000"/>
              </a:lnSpc>
            </a:pPr>
            <a:r>
              <a:rPr sz="1800" b="1" i="0">
                <a:solidFill>
                  <a:srgbClr val="1A1713"/>
                </a:solidFill>
                <a:latin typeface="Georgia"/>
                <a:ea typeface="Yu Mincho"/>
              </a:rPr>
              <a:t>Any model, any background, any market.</a:t>
            </a:r>
          </a:p>
          <a:p>
            <a:pPr algn="l">
              <a:lnSpc>
                <a:spcPct val="150000"/>
              </a:lnSpc>
            </a:pPr>
            <a:r>
              <a:rPr sz="1800" b="1" i="0">
                <a:solidFill>
                  <a:srgbClr val="1A1713"/>
                </a:solidFill>
                <a:latin typeface="Georgia"/>
                <a:ea typeface="Yu Mincho"/>
              </a:rPr>
              <a:t>Every brand can publish like a flagship house.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B8A85"/>
                </a:solidFill>
                <a:latin typeface="Segoe UI"/>
                <a:ea typeface="Yu Gothic UI"/>
              </a:rPr>
              <a:t>作品 其ノ壱 · 変化   ·   WORK I · WHAT CHANGES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B8A85"/>
                </a:solidFill>
                <a:latin typeface="Segoe UI"/>
                <a:ea typeface="Yu Gothic UI"/>
              </a:rPr>
              <a:t>06 / 11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7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40080"/>
            <a:ext cx="22860" cy="5760720"/>
          </a:xfrm>
          <a:prstGeom prst="rect">
            <a:avLst/>
          </a:prstGeom>
          <a:solidFill>
            <a:srgbClr val="3E5B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6400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3E5B7E"/>
                </a:solidFill>
                <a:latin typeface="Segoe UI"/>
                <a:ea typeface="Yu Gothic UI"/>
              </a:rPr>
              <a:t>WORK II   ·   作品 其ノ弐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051560"/>
            <a:ext cx="10058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 i="0">
                <a:solidFill>
                  <a:srgbClr val="F5EFE2"/>
                </a:solidFill>
                <a:latin typeface="Georgia"/>
                <a:ea typeface="Yu Mincho"/>
              </a:rPr>
              <a:t>Blueprint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9659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C9BEA7"/>
                </a:solidFill>
                <a:latin typeface="Georgia"/>
                <a:ea typeface="Yu Mincho"/>
              </a:rPr>
              <a:t>Upload a blueprint.  Get instant analysis, parts list, and inspection.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3317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 spc="100">
                <a:solidFill>
                  <a:srgbClr val="C9BEA7"/>
                </a:solidFill>
                <a:latin typeface="Segoe UI"/>
                <a:ea typeface="Yu Gothic UI"/>
              </a:rPr>
              <a:t>図面を投げ込むだけで、解析・部品表・検査が返ってくる。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3108960"/>
            <a:ext cx="640080" cy="19050"/>
          </a:xfrm>
          <a:prstGeom prst="rect">
            <a:avLst/>
          </a:prstGeom>
          <a:solidFill>
            <a:srgbClr val="3E5B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33756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F5EFE2"/>
                </a:solidFill>
                <a:latin typeface="Georgia"/>
                <a:ea typeface="Yu Mincho"/>
              </a:rPr>
              <a:t>An engineer drops a technical drawing into Blueprint.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977639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F5EFE2"/>
                </a:solidFill>
                <a:latin typeface="Georgia"/>
                <a:ea typeface="Yu Mincho"/>
              </a:rPr>
              <a:t>Minutes later, three answers come back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61772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F5EFE2"/>
                </a:solidFill>
                <a:latin typeface="Georgia"/>
                <a:ea typeface="Yu Mincho"/>
              </a:rPr>
              <a:t>the parts list, already tabled.  The errors, circled with confidence.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534924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B23A2E"/>
                </a:solidFill>
                <a:latin typeface="Georgia"/>
                <a:ea typeface="Yu Mincho"/>
              </a:rPr>
              <a:t>The text, searchable as any document.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9BEA7"/>
                </a:solidFill>
                <a:latin typeface="Segoe UI"/>
                <a:ea typeface="Yu Gothic UI"/>
              </a:rPr>
              <a:t>作品 其ノ弐 · 情景   ·   WORK II · THE SCENE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C9BEA7"/>
                </a:solidFill>
                <a:latin typeface="Segoe UI"/>
                <a:ea typeface="Yu Gothic UI"/>
              </a:rPr>
              <a:t>07 / 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203B5A"/>
                </a:solidFill>
                <a:latin typeface="Segoe UI"/>
                <a:ea typeface="Yu Gothic UI"/>
              </a:rPr>
              <a:t>作品 其ノ弐 · 変化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203B5A"/>
                </a:solidFill>
                <a:latin typeface="Segoe UI"/>
                <a:ea typeface="Yu Gothic UI"/>
              </a:rPr>
              <a:t>WORK II · WHAT CHANGES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A1713"/>
                </a:solidFill>
                <a:latin typeface="Georgia"/>
                <a:ea typeface="Yu Mincho"/>
              </a:rPr>
              <a:t>What changes for the people who use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 spc="100">
                <a:solidFill>
                  <a:srgbClr val="3A3732"/>
                </a:solidFill>
                <a:latin typeface="Segoe UI"/>
                <a:ea typeface="Yu Gothic UI"/>
              </a:rPr>
              <a:t>使う人にとって、何が変わるのか。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089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8B8A85"/>
                </a:solidFill>
                <a:latin typeface="Segoe UI"/>
                <a:ea typeface="Yu Gothic UI"/>
              </a:rPr>
              <a:t>BEFORE   ·   以前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566160"/>
            <a:ext cx="365760" cy="12700"/>
          </a:xfrm>
          <a:prstGeom prst="rect">
            <a:avLst/>
          </a:prstGeom>
          <a:solidFill>
            <a:srgbClr val="8B8A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749040"/>
            <a:ext cx="493776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 i="1">
                <a:solidFill>
                  <a:srgbClr val="8B8A85"/>
                </a:solidFill>
                <a:latin typeface="Georgia"/>
                <a:ea typeface="Yu Mincho"/>
              </a:rPr>
              <a:t>A single drawing took hours to review by hand.</a:t>
            </a:r>
          </a:p>
          <a:p>
            <a:pPr algn="l">
              <a:lnSpc>
                <a:spcPct val="150000"/>
              </a:lnSpc>
            </a:pPr>
            <a:r>
              <a:rPr sz="1800" b="0" i="1">
                <a:solidFill>
                  <a:srgbClr val="8B8A85"/>
                </a:solidFill>
                <a:latin typeface="Georgia"/>
                <a:ea typeface="Yu Mincho"/>
              </a:rPr>
              <a:t>Parts were counted one by one into spreadsheets.</a:t>
            </a:r>
          </a:p>
          <a:p>
            <a:pPr algn="l">
              <a:lnSpc>
                <a:spcPct val="150000"/>
              </a:lnSpc>
            </a:pPr>
            <a:r>
              <a:rPr sz="1800" b="0" i="1">
                <a:solidFill>
                  <a:srgbClr val="8B8A85"/>
                </a:solidFill>
                <a:latin typeface="Georgia"/>
                <a:ea typeface="Yu Mincho"/>
              </a:rPr>
              <a:t>Mistakes slipped through until the factory found them.</a:t>
            </a:r>
          </a:p>
          <a:p>
            <a:pPr algn="l">
              <a:lnSpc>
                <a:spcPct val="150000"/>
              </a:lnSpc>
            </a:pPr>
            <a:r>
              <a:rPr sz="1800" b="0" i="1">
                <a:solidFill>
                  <a:srgbClr val="8B8A85"/>
                </a:solidFill>
                <a:latin typeface="Georgia"/>
                <a:ea typeface="Yu Mincho"/>
              </a:rPr>
              <a:t>Every update meant starting the review over.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1089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03B5A"/>
                </a:solidFill>
                <a:latin typeface="Segoe UI"/>
                <a:ea typeface="Yu Gothic UI"/>
              </a:rPr>
              <a:t>AFTER   ·   以後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3566160"/>
            <a:ext cx="365760" cy="19050"/>
          </a:xfrm>
          <a:prstGeom prst="rect">
            <a:avLst/>
          </a:prstGeom>
          <a:solidFill>
            <a:srgbClr val="20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749040"/>
            <a:ext cx="493776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1" i="0">
                <a:solidFill>
                  <a:srgbClr val="1A1713"/>
                </a:solidFill>
                <a:latin typeface="Georgia"/>
                <a:ea typeface="Yu Mincho"/>
              </a:rPr>
              <a:t>The same drawing takes minutes.</a:t>
            </a:r>
          </a:p>
          <a:p>
            <a:pPr algn="l">
              <a:lnSpc>
                <a:spcPct val="150000"/>
              </a:lnSpc>
            </a:pPr>
            <a:r>
              <a:rPr sz="1800" b="1" i="0">
                <a:solidFill>
                  <a:srgbClr val="1A1713"/>
                </a:solidFill>
                <a:latin typeface="Georgia"/>
                <a:ea typeface="Yu Mincho"/>
              </a:rPr>
              <a:t>The parts list appears, already structured for export.</a:t>
            </a:r>
          </a:p>
          <a:p>
            <a:pPr algn="l">
              <a:lnSpc>
                <a:spcPct val="150000"/>
              </a:lnSpc>
            </a:pPr>
            <a:r>
              <a:rPr sz="1800" b="1" i="0">
                <a:solidFill>
                  <a:srgbClr val="1A1713"/>
                </a:solidFill>
                <a:latin typeface="Georgia"/>
                <a:ea typeface="Yu Mincho"/>
              </a:rPr>
              <a:t>Inconsistencies are flagged before they reach production.</a:t>
            </a:r>
          </a:p>
          <a:p>
            <a:pPr algn="l">
              <a:lnSpc>
                <a:spcPct val="150000"/>
              </a:lnSpc>
            </a:pPr>
            <a:r>
              <a:rPr sz="1800" b="1" i="0">
                <a:solidFill>
                  <a:srgbClr val="1A1713"/>
                </a:solidFill>
                <a:latin typeface="Georgia"/>
                <a:ea typeface="Yu Mincho"/>
              </a:rPr>
              <a:t>Engineers move from checking to confirming.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B8A85"/>
                </a:solidFill>
                <a:latin typeface="Segoe UI"/>
                <a:ea typeface="Yu Gothic UI"/>
              </a:rPr>
              <a:t>作品 其ノ弐 · 変化   ·   WORK II · WHAT CHANGES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B8A85"/>
                </a:solidFill>
                <a:latin typeface="Segoe UI"/>
                <a:ea typeface="Yu Gothic UI"/>
              </a:rPr>
              <a:t>08 / 11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203B5A"/>
                </a:solidFill>
                <a:latin typeface="Segoe UI"/>
                <a:ea typeface="Yu Gothic UI"/>
              </a:rPr>
              <a:t>学び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203B5A"/>
                </a:solidFill>
                <a:latin typeface="Segoe UI"/>
                <a:ea typeface="Yu Gothic UI"/>
              </a:rPr>
              <a:t>WHAT WE'VE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A1713"/>
                </a:solidFill>
                <a:latin typeface="Georgia"/>
                <a:ea typeface="Yu Mincho"/>
              </a:rPr>
              <a:t>Three things the work has taught 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 spc="100">
                <a:solidFill>
                  <a:srgbClr val="3A3732"/>
                </a:solidFill>
                <a:latin typeface="Segoe UI"/>
                <a:ea typeface="Yu Gothic UI"/>
              </a:rPr>
              <a:t>二つの作品が、私たちに教えてくれたこと。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08960"/>
            <a:ext cx="8229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B23A2E"/>
                </a:solidFill>
                <a:latin typeface="Georgia"/>
                <a:ea typeface="Yu Mincho"/>
              </a:rPr>
              <a:t>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31089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1">
                <a:solidFill>
                  <a:srgbClr val="1A1713"/>
                </a:solidFill>
                <a:latin typeface="Georgia"/>
                <a:ea typeface="Yu Mincho"/>
              </a:rPr>
              <a:t>Our best decision this quarter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5204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1">
                <a:solidFill>
                  <a:srgbClr val="203B5A"/>
                </a:solidFill>
                <a:latin typeface="Georgia"/>
                <a:ea typeface="Yu Mincho"/>
              </a:rPr>
              <a:t>was choosing not to build something.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3931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 spc="100">
                <a:solidFill>
                  <a:srgbClr val="3A3732"/>
                </a:solidFill>
                <a:latin typeface="Segoe UI"/>
                <a:ea typeface="Yu Gothic UI"/>
              </a:rPr>
              <a:t>最良の判断は、作らないと決めたことだった。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251960"/>
            <a:ext cx="8229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B23A2E"/>
                </a:solidFill>
                <a:latin typeface="Georgia"/>
                <a:ea typeface="Yu Mincho"/>
              </a:rPr>
              <a:t>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42519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1">
                <a:solidFill>
                  <a:srgbClr val="1A1713"/>
                </a:solidFill>
                <a:latin typeface="Georgia"/>
                <a:ea typeface="Yu Mincho"/>
              </a:rPr>
              <a:t>Small teams don't just move faster.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46634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1">
                <a:solidFill>
                  <a:srgbClr val="203B5A"/>
                </a:solidFill>
                <a:latin typeface="Georgia"/>
                <a:ea typeface="Yu Mincho"/>
              </a:rPr>
              <a:t>They agree on what's good.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5074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 spc="100">
                <a:solidFill>
                  <a:srgbClr val="3A3732"/>
                </a:solidFill>
                <a:latin typeface="Segoe UI"/>
                <a:ea typeface="Yu Gothic UI"/>
              </a:rPr>
              <a:t>少人数は、速いだけではない。良し悪しが揃う。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394960"/>
            <a:ext cx="8229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B23A2E"/>
                </a:solidFill>
                <a:latin typeface="Georgia"/>
                <a:ea typeface="Yu Mincho"/>
              </a:rPr>
              <a:t>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53949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1">
                <a:solidFill>
                  <a:srgbClr val="1A1713"/>
                </a:solidFill>
                <a:latin typeface="Georgia"/>
                <a:ea typeface="Yu Mincho"/>
              </a:rPr>
              <a:t>Customers don't ask for features.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58064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1">
                <a:solidFill>
                  <a:srgbClr val="203B5A"/>
                </a:solidFill>
                <a:latin typeface="Georgia"/>
                <a:ea typeface="Yu Mincho"/>
              </a:rPr>
              <a:t>They ask for less of the old way.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6217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 spc="100">
                <a:solidFill>
                  <a:srgbClr val="3A3732"/>
                </a:solidFill>
                <a:latin typeface="Segoe UI"/>
                <a:ea typeface="Yu Gothic UI"/>
              </a:rPr>
              <a:t>顧客が求めるのは機能ではなく、古い手間からの解放である。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B8A85"/>
                </a:solidFill>
                <a:latin typeface="Segoe UI"/>
                <a:ea typeface="Yu Gothic UI"/>
              </a:rPr>
              <a:t>学び · 第三章   ·   WHAT WE'VE LEARNED · CHAPTER THREE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B8A85"/>
                </a:solidFill>
                <a:latin typeface="Segoe UI"/>
                <a:ea typeface="Yu Gothic UI"/>
              </a:rPr>
              <a:t>09 / 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5EFE2"/>
                </a:solidFill>
                <a:latin typeface="Segoe UI"/>
                <a:ea typeface="Yu Gothic UI"/>
              </a:rPr>
              <a:t>地平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F5EFE2"/>
                </a:solidFill>
                <a:latin typeface="Segoe UI"/>
                <a:ea typeface="Yu Gothic UI"/>
              </a:rPr>
              <a:t>THE HORIZON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3E5B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1">
                <a:solidFill>
                  <a:srgbClr val="C9BEA7"/>
                </a:solidFill>
                <a:latin typeface="Georgia"/>
                <a:ea typeface="Yu Mincho"/>
              </a:rPr>
              <a:t>The next months, at a glance.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346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1" i="0">
                <a:solidFill>
                  <a:srgbClr val="F5EFE2"/>
                </a:solidFill>
                <a:latin typeface="Georgia"/>
                <a:ea typeface="Yu Mincho"/>
              </a:rPr>
              <a:t>Depth, not breadth.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576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1" i="0">
                <a:solidFill>
                  <a:srgbClr val="F5EFE2"/>
                </a:solidFill>
                <a:latin typeface="Georgia"/>
                <a:ea typeface="Yu Mincho"/>
              </a:rPr>
              <a:t>Craft, not scale.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4805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1" i="0">
                <a:solidFill>
                  <a:srgbClr val="B23A2E"/>
                </a:solidFill>
                <a:latin typeface="Georgia"/>
                <a:ea typeface="Yu Mincho"/>
              </a:rPr>
              <a:t>The kind of work customers talk about.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5669280"/>
            <a:ext cx="731520" cy="1905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5852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C9BEA7"/>
                </a:solidFill>
                <a:latin typeface="Georgia"/>
                <a:ea typeface="Yu Mincho"/>
              </a:rPr>
              <a:t>The studio is built to keep getting better. The next months are where you will begin to see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2179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 spc="100">
                <a:solidFill>
                  <a:srgbClr val="8B8A85"/>
                </a:solidFill>
                <a:latin typeface="Segoe UI"/>
                <a:ea typeface="Yu Gothic UI"/>
              </a:rPr>
              <a:t>工房は、積み重ねるために造られています。これからの数か月が、その始まりです。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C9BEA7"/>
                </a:solidFill>
                <a:latin typeface="Segoe UI"/>
                <a:ea typeface="Yu Gothic UI"/>
              </a:rPr>
              <a:t>10 / 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23A2E"/>
                </a:solidFill>
                <a:latin typeface="Segoe UI"/>
                <a:ea typeface="Yu Gothic UI"/>
              </a:rPr>
              <a:t>お伺い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B23A2E"/>
                </a:solidFill>
                <a:latin typeface="Segoe UI"/>
                <a:ea typeface="Yu Gothic UI"/>
              </a:rPr>
              <a:t>ONE REQUEST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 i="0">
                <a:solidFill>
                  <a:srgbClr val="1A1713"/>
                </a:solidFill>
                <a:latin typeface="Georgia"/>
                <a:ea typeface="Yu Mincho"/>
              </a:rPr>
              <a:t>Which of the two would you like us to open next?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1" spc="100">
                <a:solidFill>
                  <a:srgbClr val="3A3732"/>
                </a:solidFill>
                <a:latin typeface="Segoe UI"/>
                <a:ea typeface="Yu Gothic UI"/>
              </a:rPr>
              <a:t>どちらの作品を、次にご覧になりたいですか。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546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1">
                <a:solidFill>
                  <a:srgbClr val="3A3732"/>
                </a:solidFill>
                <a:latin typeface="Georgia"/>
                <a:ea typeface="Yu Mincho"/>
              </a:rPr>
              <a:t>We'd be glad to walk you deeper into whichever one you choose.</a:t>
            </a:r>
          </a:p>
        </p:txBody>
      </p:sp>
      <p:sp>
        <p:nvSpPr>
          <p:cNvPr id="9" name="Rectangle 8"/>
          <p:cNvSpPr/>
          <p:nvPr/>
        </p:nvSpPr>
        <p:spPr>
          <a:xfrm>
            <a:off x="1340967" y="3931920"/>
            <a:ext cx="4572000" cy="2103120"/>
          </a:xfrm>
          <a:prstGeom prst="rect">
            <a:avLst/>
          </a:prstGeom>
          <a:solidFill>
            <a:srgbClr val="ECE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40967" y="3931920"/>
            <a:ext cx="4572000" cy="2286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06727" y="41605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B23A2E"/>
                </a:solidFill>
                <a:latin typeface="Segoe UI"/>
                <a:ea typeface="Yu Gothic UI"/>
              </a:rPr>
              <a:t>WORK 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06727" y="4526280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1A1713"/>
                </a:solidFill>
                <a:latin typeface="Georgia"/>
                <a:ea typeface="Yu Mincho"/>
              </a:rPr>
              <a:t>Apparel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06727" y="525780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3A3732"/>
                </a:solidFill>
                <a:latin typeface="Georgia"/>
                <a:ea typeface="Yu Mincho"/>
              </a:rPr>
              <a:t>One product photo, a full campaign.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6727" y="559612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 spc="100">
                <a:solidFill>
                  <a:srgbClr val="3A3732"/>
                </a:solidFill>
                <a:latin typeface="Segoe UI"/>
                <a:ea typeface="Yu Gothic UI"/>
              </a:rPr>
              <a:t>一枚の写真が、キャンペーンに。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8727" y="3931920"/>
            <a:ext cx="4572000" cy="2103120"/>
          </a:xfrm>
          <a:prstGeom prst="rect">
            <a:avLst/>
          </a:prstGeom>
          <a:solidFill>
            <a:srgbClr val="ECE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78727" y="3931920"/>
            <a:ext cx="4572000" cy="22860"/>
          </a:xfrm>
          <a:prstGeom prst="rect">
            <a:avLst/>
          </a:prstGeom>
          <a:solidFill>
            <a:srgbClr val="20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44487" y="41605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03B5A"/>
                </a:solidFill>
                <a:latin typeface="Segoe UI"/>
                <a:ea typeface="Yu Gothic UI"/>
              </a:rPr>
              <a:t>WORK 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44487" y="4526280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1A1713"/>
                </a:solidFill>
                <a:latin typeface="Georgia"/>
                <a:ea typeface="Yu Mincho"/>
              </a:rPr>
              <a:t>Blueprint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44487" y="525780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3A3732"/>
                </a:solidFill>
                <a:latin typeface="Georgia"/>
                <a:ea typeface="Yu Mincho"/>
              </a:rPr>
              <a:t>One blueprint, a parts list and inspection.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4487" y="559612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 spc="100">
                <a:solidFill>
                  <a:srgbClr val="3A3732"/>
                </a:solidFill>
                <a:latin typeface="Segoe UI"/>
                <a:ea typeface="Yu Gothic UI"/>
              </a:rPr>
              <a:t>一枚の図面が、部品表と検査に。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018520" y="5897880"/>
            <a:ext cx="640080" cy="640080"/>
          </a:xfrm>
          <a:prstGeom prst="rect">
            <a:avLst/>
          </a:prstGeom>
          <a:solidFill>
            <a:srgbClr val="B23A2E"/>
          </a:solidFill>
          <a:ln>
            <a:solidFill>
              <a:srgbClr val="B2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018520" y="58978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400" b="1" i="0">
                <a:solidFill>
                  <a:srgbClr val="F5EFE2"/>
                </a:solidFill>
                <a:latin typeface="Georgia"/>
                <a:ea typeface="Yu Mincho"/>
              </a:rPr>
              <a:t>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3093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300">
                <a:solidFill>
                  <a:srgbClr val="8B8A85"/>
                </a:solidFill>
                <a:latin typeface="Segoe UI"/>
                <a:ea typeface="Yu Gothic UI"/>
              </a:rPr>
              <a:t>alanda.ambrose@aibos.co.jp   ·   Create Project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B8A85"/>
                </a:solidFill>
                <a:latin typeface="Segoe UI"/>
                <a:ea typeface="Yu Gothic UI"/>
              </a:rPr>
              <a:t>11 / 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