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 spc="500">
                <a:solidFill>
                  <a:srgbClr val="1A1713"/>
                </a:solidFill>
                <a:latin typeface="Georgia"/>
                <a:ea typeface="Yu Mincho"/>
              </a:rPr>
              <a:t>工 房 便 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0" i="0">
                <a:solidFill>
                  <a:srgbClr val="203B5A"/>
                </a:solidFill>
                <a:latin typeface="Georgia"/>
                <a:ea typeface="Yu Mincho"/>
              </a:rPr>
              <a:t>State of the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732"/>
                </a:solidFill>
                <a:latin typeface="Georgia"/>
                <a:ea typeface="Yu Mincho"/>
              </a:rPr>
              <a:t>A letter on two works, seven makers, and one way of working.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二つの作品、七人の職人、一つの工房からのご報告。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732"/>
                </a:solidFill>
                <a:latin typeface="Segoe UI"/>
                <a:ea typeface="Yu Gothic UI"/>
              </a:rPr>
              <a:t>Q2 · 2026年春   ·   Spring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732"/>
                </a:solidFill>
                <a:latin typeface="Segoe UI"/>
                <a:ea typeface="Yu Gothic UI"/>
              </a:rPr>
              <a:t>FOR THE BOARD   ·   取締役会用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554480"/>
            <a:ext cx="868680" cy="8686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拝啓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 LETTER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1">
                <a:solidFill>
                  <a:srgbClr val="1A1713"/>
                </a:solidFill>
                <a:latin typeface="Georgia"/>
                <a:ea typeface="Yu Mincho"/>
              </a:rPr>
              <a:t>You asked what Create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1">
                <a:solidFill>
                  <a:srgbClr val="1A1713"/>
                </a:solidFill>
                <a:latin typeface="Georgia"/>
                <a:ea typeface="Yu Mincho"/>
              </a:rPr>
              <a:t>has been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03B5A"/>
                </a:solidFill>
                <a:latin typeface="Georgia"/>
                <a:ea typeface="Yu Mincho"/>
              </a:rPr>
              <a:t>Here is what we can show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12064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349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732"/>
                </a:solidFill>
                <a:latin typeface="Segoe UI"/>
                <a:ea typeface="Yu Gothic UI"/>
              </a:rPr>
              <a:t>作っているものを、見せに参りました。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拝啓   ·   A LETTER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工房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THE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Seven makers.  One workshop.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 spc="100">
                <a:solidFill>
                  <a:srgbClr val="3A3732"/>
                </a:solidFill>
                <a:latin typeface="Segoe UI"/>
                <a:ea typeface="Yu Gothic UI"/>
              </a:rPr>
              <a:t>七人の職人が、一つの工房で働いています。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3931920"/>
            <a:ext cx="256032" cy="256032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4251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Ambrose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5902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3A3732"/>
                </a:solidFill>
                <a:latin typeface="Segoe UI"/>
                <a:ea typeface="Yu Gothic UI"/>
              </a:rPr>
              <a:t>Systems &amp;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5478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203B5A"/>
                </a:solidFill>
                <a:latin typeface="Segoe UI"/>
                <a:ea typeface="Yu Gothic UI"/>
              </a:rPr>
              <a:t>統率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3566160"/>
            <a:ext cx="256032" cy="256032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8862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Aita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224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3A3732"/>
                </a:solidFill>
                <a:latin typeface="Segoe UI"/>
                <a:ea typeface="Yu Gothic UI"/>
              </a:rPr>
              <a:t>Workflow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1821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203B5A"/>
                </a:solidFill>
                <a:latin typeface="Segoe UI"/>
                <a:ea typeface="Yu Gothic UI"/>
              </a:rPr>
              <a:t>仕組み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3840480"/>
            <a:ext cx="256032" cy="256032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41605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Muzuva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4988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3A3732"/>
                </a:solidFill>
                <a:latin typeface="Segoe UI"/>
                <a:ea typeface="Yu Gothic UI"/>
              </a:rPr>
              <a:t>Backend &amp;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4564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203B5A"/>
                </a:solidFill>
                <a:latin typeface="Segoe UI"/>
                <a:ea typeface="Yu Gothic UI"/>
              </a:rPr>
              <a:t>基盤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3474720"/>
            <a:ext cx="256032" cy="256032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794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Rodrick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4133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3A3732"/>
                </a:solidFill>
                <a:latin typeface="Segoe UI"/>
                <a:ea typeface="Yu Gothic UI"/>
              </a:rPr>
              <a:t>Deployment &amp; 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090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203B5A"/>
                </a:solidFill>
                <a:latin typeface="Segoe UI"/>
                <a:ea typeface="Yu Gothic UI"/>
              </a:rPr>
              <a:t>運用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0" y="4114800"/>
            <a:ext cx="256032" cy="256032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44348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Lauben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7731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3A3732"/>
                </a:solidFill>
                <a:latin typeface="Segoe UI"/>
                <a:ea typeface="Yu Gothic UI"/>
              </a:rP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7307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203B5A"/>
                </a:solidFill>
                <a:latin typeface="Segoe UI"/>
                <a:ea typeface="Yu Gothic UI"/>
              </a:rPr>
              <a:t>土台</a:t>
            </a:r>
          </a:p>
        </p:txBody>
      </p:sp>
      <p:sp>
        <p:nvSpPr>
          <p:cNvPr id="28" name="Oval 27"/>
          <p:cNvSpPr/>
          <p:nvPr/>
        </p:nvSpPr>
        <p:spPr>
          <a:xfrm>
            <a:off x="5303520" y="5029200"/>
            <a:ext cx="256032" cy="256032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3492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Crispus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6875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3A3732"/>
                </a:solidFill>
                <a:latin typeface="Segoe UI"/>
                <a:ea typeface="Yu Gothic UI"/>
              </a:rPr>
              <a:t>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6451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203B5A"/>
                </a:solidFill>
                <a:latin typeface="Segoe UI"/>
                <a:ea typeface="Yu Gothic UI"/>
              </a:rPr>
              <a:t>表層</a:t>
            </a:r>
          </a:p>
        </p:txBody>
      </p:sp>
      <p:sp>
        <p:nvSpPr>
          <p:cNvPr id="32" name="Oval 31"/>
          <p:cNvSpPr/>
          <p:nvPr/>
        </p:nvSpPr>
        <p:spPr>
          <a:xfrm>
            <a:off x="7863840" y="5120640"/>
            <a:ext cx="256032" cy="256032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5440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Otai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7790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3A3732"/>
                </a:solidFill>
                <a:latin typeface="Segoe UI"/>
                <a:ea typeface="Yu Gothic UI"/>
              </a:rPr>
              <a:t>Backend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203B5A"/>
                </a:solidFill>
                <a:latin typeface="Segoe UI"/>
                <a:ea typeface="Yu Gothic UI"/>
              </a:rPr>
              <a:t>補佐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Small enough to agree on taste.   Large enough to ship two products without compromise.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工房 · 第一章   ·   THE STUDIO · CHAPTER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OUR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3A3732"/>
                </a:solidFill>
                <a:latin typeface="Georgia"/>
                <a:ea typeface="Yu Mincho"/>
              </a:rPr>
              <a:t>Three words, everything else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03B5A"/>
                </a:solidFill>
                <a:latin typeface="Georgia"/>
                <a:ea typeface="Yu Mincho"/>
              </a:rPr>
              <a:t>Clarity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 spc="300">
                <a:solidFill>
                  <a:srgbClr val="B23A2E"/>
                </a:solidFill>
                <a:latin typeface="Georgia"/>
                <a:ea typeface="Yu Mincho"/>
              </a:rPr>
              <a:t>明晰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93776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We refuse to build what we cannot name.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03B5A"/>
                </a:solidFill>
                <a:latin typeface="Georgia"/>
                <a:ea typeface="Yu Mincho"/>
              </a:rPr>
              <a:t>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 spc="300">
                <a:solidFill>
                  <a:srgbClr val="B23A2E"/>
                </a:solidFill>
                <a:latin typeface="Georgia"/>
                <a:ea typeface="Yu Mincho"/>
              </a:rPr>
              <a:t>規律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93776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507492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Nothing ships until the shape is right.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03B5A"/>
                </a:solidFill>
                <a:latin typeface="Georgia"/>
                <a:ea typeface="Yu Mincho"/>
              </a:rPr>
              <a:t>Compounding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 spc="300">
                <a:solidFill>
                  <a:srgbClr val="B23A2E"/>
                </a:solidFill>
                <a:latin typeface="Georgia"/>
                <a:ea typeface="Yu Mincho"/>
              </a:rPr>
              <a:t>積重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493776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507492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Every quarter ends better than it began.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流儀 · 第二章   ·   OUR WAY · CHAPTER TWO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WORK I   ·   作品 其ノ壱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 spc="100">
                <a:solidFill>
                  <a:srgbClr val="3A3732"/>
                </a:solidFill>
                <a:latin typeface="Segoe UI"/>
                <a:ea typeface="Yu Gothic UI"/>
              </a:rPr>
              <a:t>アパレル  ／  衣を、写真に変える仕事。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154680"/>
            <a:ext cx="9601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0" i="1">
                <a:solidFill>
                  <a:srgbClr val="1A1713"/>
                </a:solidFill>
                <a:latin typeface="Georgia"/>
                <a:ea typeface="Yu Mincho"/>
              </a:rPr>
              <a:t>A designer in Tokyo uploads a single garment.</a:t>
            </a:r>
          </a:p>
          <a:p>
            <a:pPr algn="l">
              <a:lnSpc>
                <a:spcPct val="155000"/>
              </a:lnSpc>
            </a:pPr>
            <a:r>
              <a:rPr sz="2400" b="0" i="1">
                <a:solidFill>
                  <a:srgbClr val="1A1713"/>
                </a:solidFill>
                <a:latin typeface="Georgia"/>
                <a:ea typeface="Yu Mincho"/>
              </a:rPr>
              <a:t>Before her coffee cools, thirty campaign-ready looks return —</a:t>
            </a:r>
          </a:p>
          <a:p>
            <a:pPr algn="l">
              <a:lnSpc>
                <a:spcPct val="155000"/>
              </a:lnSpc>
            </a:pPr>
            <a:r>
              <a:rPr sz="2400" b="0" i="1">
                <a:solidFill>
                  <a:srgbClr val="1A1713"/>
                </a:solidFill>
                <a:latin typeface="Georgia"/>
                <a:ea typeface="Yu Mincho"/>
              </a:rPr>
              <a:t>five backdrops, three seasons, every angle consistent.</a:t>
            </a:r>
          </a:p>
          <a:p>
            <a:pPr algn="l">
              <a:lnSpc>
                <a:spcPct val="155000"/>
              </a:lnSpc>
            </a:pPr>
            <a:r>
              <a:rPr sz="2400" b="0" i="1">
                <a:solidFill>
                  <a:srgbClr val="1A1713"/>
                </a:solidFill>
                <a:latin typeface="Georgia"/>
                <a:ea typeface="Yu Mincho"/>
              </a:rPr>
              <a:t>No studio booked.  No model called.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作品 其ノ壱 · 情景   ·   WORK I · THE SCENE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作品 其ノ壱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WORK I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people who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使う人の世界が、どう変わるか。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campaign was a month.</a:t>
            </a:r>
          </a:p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studio, a model, a stylist, a flight.</a:t>
            </a:r>
          </a:p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One garment, one set of photographs.</a:t>
            </a:r>
          </a:p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And a bill that kept the brave away.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 campaign is a morning.</a:t>
            </a:r>
          </a:p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One garment becomes a wardrobe of stories —</a:t>
            </a:r>
          </a:p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any season, any market, any mood.</a:t>
            </a:r>
          </a:p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brand moves at the speed of taste.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作品 其ノ壱 · 変化   ·   WORK I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3E5B7E"/>
                </a:solidFill>
                <a:latin typeface="Segoe UI"/>
                <a:ea typeface="Yu Gothic UI"/>
              </a:rPr>
              <a:t>WORK II   ·   作品 其ノ弐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EFE2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 spc="100">
                <a:solidFill>
                  <a:srgbClr val="C9BEA7"/>
                </a:solidFill>
                <a:latin typeface="Segoe UI"/>
                <a:ea typeface="Yu Gothic UI"/>
              </a:rPr>
              <a:t>ブループリント  ／  言葉を、仕組みに変える仕事。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640080" cy="190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154680"/>
            <a:ext cx="9601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0" i="1">
                <a:solidFill>
                  <a:srgbClr val="F5EFE2"/>
                </a:solidFill>
                <a:latin typeface="Georgia"/>
                <a:ea typeface="Yu Mincho"/>
              </a:rPr>
              <a:t>An operator describes a process in plain language —</a:t>
            </a:r>
          </a:p>
          <a:p>
            <a:pPr algn="l">
              <a:lnSpc>
                <a:spcPct val="155000"/>
              </a:lnSpc>
            </a:pPr>
            <a:r>
              <a:rPr sz="2400" b="0" i="1">
                <a:solidFill>
                  <a:srgbClr val="F5EFE2"/>
                </a:solidFill>
                <a:latin typeface="Georgia"/>
                <a:ea typeface="Yu Mincho"/>
              </a:rPr>
              <a:t>the rules, the exceptions, the way it really runs.</a:t>
            </a:r>
          </a:p>
          <a:p>
            <a:pPr algn="l">
              <a:lnSpc>
                <a:spcPct val="155000"/>
              </a:lnSpc>
            </a:pPr>
            <a:r>
              <a:rPr sz="2400" b="0" i="1">
                <a:solidFill>
                  <a:srgbClr val="F5EFE2"/>
                </a:solidFill>
                <a:latin typeface="Georgia"/>
                <a:ea typeface="Yu Mincho"/>
              </a:rPr>
              <a:t>By the time she has finished speaking,</a:t>
            </a:r>
          </a:p>
          <a:p>
            <a:pPr algn="l">
              <a:lnSpc>
                <a:spcPct val="155000"/>
              </a:lnSpc>
            </a:pPr>
            <a:r>
              <a:rPr sz="2400" b="0" i="1">
                <a:solidFill>
                  <a:srgbClr val="F5EFE2"/>
                </a:solidFill>
                <a:latin typeface="Georgia"/>
                <a:ea typeface="Yu Mincho"/>
              </a:rPr>
              <a:t>the system is already running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作品 其ノ弐 · 情景   ·   WORK II · THE SCENE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作品 其ノ弐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WORK II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people who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使う人の世界が、どう変わるか。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Knowledge lived in one head,</a:t>
            </a:r>
          </a:p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fifteen browser tabs,</a:t>
            </a:r>
          </a:p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and a spreadsheet nobody else would open.</a:t>
            </a:r>
          </a:p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The process moved when that person did.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Processes captured once — run forever.</a:t>
            </a:r>
          </a:p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Audit-ready, explainable, quietly dependable.</a:t>
            </a:r>
          </a:p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Teams shrink.  Throughput doesn't.</a:t>
            </a:r>
          </a:p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work keeps running, even when the people rest.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作品 其ノ弐 · 変化   ·   WORK II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Three things the work has taught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二つの作品が、私たちに教えてくれたこと。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822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08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1A1713"/>
                </a:solidFill>
                <a:latin typeface="Georgia"/>
                <a:ea typeface="Yu Mincho"/>
              </a:rPr>
              <a:t>The best feature we shipped this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520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203B5A"/>
                </a:solidFill>
                <a:latin typeface="Georgia"/>
                <a:ea typeface="Yu Mincho"/>
              </a:rPr>
              <a:t>was the one we chose not to 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31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最良の機能は、作らなかった機能だった。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822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251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1A1713"/>
                </a:solidFill>
                <a:latin typeface="Georgia"/>
                <a:ea typeface="Yu Mincho"/>
              </a:rPr>
              <a:t>Small teams do not merely move faster.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203B5A"/>
                </a:solidFill>
                <a:latin typeface="Georgia"/>
                <a:ea typeface="Yu Mincho"/>
              </a:rPr>
              <a:t>They agree on taste.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74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少人数は速いだけではない。美意識が一致する。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822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394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1A1713"/>
                </a:solidFill>
                <a:latin typeface="Georgia"/>
                <a:ea typeface="Yu Mincho"/>
              </a:rPr>
              <a:t>Customers do not ask for features.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806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203B5A"/>
                </a:solidFill>
                <a:latin typeface="Georgia"/>
                <a:ea typeface="Yu Mincho"/>
              </a:rPr>
              <a:t>They ask for less of their old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顧客が求めるのは機能ではない。以前の面倒からの解放である。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学び · 第三章   ·   WHAT WE'VE LEARNED · CHAPTER THREE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EFE2"/>
                </a:solidFill>
                <a:latin typeface="Segoe UI"/>
                <a:ea typeface="Yu Gothic UI"/>
              </a:rPr>
              <a:t>地平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5EFE2"/>
                </a:solidFill>
                <a:latin typeface="Segoe UI"/>
                <a:ea typeface="Yu Gothic UI"/>
              </a:rPr>
              <a:t>THE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>
                <a:solidFill>
                  <a:srgbClr val="C9BEA7"/>
                </a:solidFill>
                <a:latin typeface="Georgia"/>
                <a:ea typeface="Yu Mincho"/>
              </a:rPr>
              <a:t>The next months, at altitude.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5EFE2"/>
                </a:solidFill>
                <a:latin typeface="Georgia"/>
                <a:ea typeface="Yu Mincho"/>
              </a:rPr>
              <a:t>Depth, not breadth.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5EFE2"/>
                </a:solidFill>
                <a:latin typeface="Georgia"/>
                <a:ea typeface="Yu Mincho"/>
              </a:rPr>
              <a:t>Craft, not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B23A2E"/>
                </a:solidFill>
                <a:latin typeface="Georgia"/>
                <a:ea typeface="Yu Mincho"/>
              </a:rPr>
              <a:t>Stories our customers tell for 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66928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The studio is built to compound.  The next chapters are where it begins to show.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8B8A85"/>
                </a:solidFill>
                <a:latin typeface="Segoe UI"/>
                <a:ea typeface="Yu Gothic UI"/>
              </a:rPr>
              <a:t>工房は、積み重ねるために造られている。これからの数か月が、その始まりである。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1A1713"/>
                </a:solidFill>
                <a:latin typeface="Georgia"/>
                <a:ea typeface="Yu Mincho"/>
              </a:rPr>
              <a:t>Which work drew you 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 spc="100">
                <a:solidFill>
                  <a:srgbClr val="3A3732"/>
                </a:solidFill>
                <a:latin typeface="Segoe UI"/>
                <a:ea typeface="Yu Gothic UI"/>
              </a:rPr>
              <a:t>どちらの作品に、心惹かれましたか。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657600"/>
            <a:ext cx="4389120" cy="23774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657600"/>
            <a:ext cx="4389120" cy="228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9319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WORK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34340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1663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A garment becomes a campaign.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532119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衣が、物語になる。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657600"/>
            <a:ext cx="4389120" cy="23774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657600"/>
            <a:ext cx="4389120" cy="2286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9319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WORK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34340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1713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1663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Words become a working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532119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言葉が、仕組みになる。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B8A85"/>
                </a:solidFill>
                <a:latin typeface="Segoe UI"/>
                <a:ea typeface="Yu Gothic UI"/>
              </a:rPr>
              <a:t>alanda.ambrose@aibos.co.jp   ·   Create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