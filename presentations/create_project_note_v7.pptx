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31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AIBOS   ·   CREATE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05156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800" b="0" i="1">
                <a:solidFill>
                  <a:srgbClr val="203B5A"/>
                </a:solidFill>
                <a:latin typeface="Georgia"/>
                <a:ea typeface="Yu Mincho"/>
              </a:rPr>
              <a:t>A Note from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600" b="1" i="0">
                <a:solidFill>
                  <a:srgbClr val="1A1713"/>
                </a:solidFill>
                <a:latin typeface="Georgia"/>
                <a:ea typeface="Yu Mincho"/>
              </a:rPr>
              <a:t>Create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448056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3A3732"/>
                </a:solidFill>
                <a:latin typeface="Georgia"/>
                <a:ea typeface="Yu Mincho"/>
              </a:rPr>
              <a:t>Two products, a team of seven, and the quarter behind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732"/>
                </a:solidFill>
                <a:latin typeface="Segoe UI"/>
                <a:ea typeface="Yu Gothic UI"/>
              </a:rPr>
              <a:t>二つのプロダクト、七人のチーム、そしてこの四半期の歩み。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7607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200">
                <a:solidFill>
                  <a:srgbClr val="203B5A"/>
                </a:solidFill>
                <a:latin typeface="Segoe UI"/>
                <a:ea typeface="Yu Gothic UI"/>
              </a:rPr>
              <a:t>クリエイト・プロジェクト便り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217920"/>
            <a:ext cx="1042416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309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3A3732"/>
                </a:solidFill>
                <a:latin typeface="Segoe UI"/>
                <a:ea typeface="Yu Gothic UI"/>
              </a:rPr>
              <a:t>Q2 · 2026年春   ·   Spring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630936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 i="0" spc="500">
                <a:solidFill>
                  <a:srgbClr val="3A3732"/>
                </a:solidFill>
                <a:latin typeface="Segoe UI"/>
                <a:ea typeface="Yu Gothic UI"/>
              </a:rPr>
              <a:t>FOR THE BOARD   ·   取締役会用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solidFill>
            <a:srgbClr val="B23A2E"/>
          </a:solidFill>
          <a:ln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0" y="1554480"/>
            <a:ext cx="868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5EFE2"/>
                </a:solidFill>
                <a:latin typeface="Georgia"/>
                <a:ea typeface="Yu Mincho"/>
              </a:rPr>
              <a:t>創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ご挨拶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A NOTE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A1713"/>
                </a:solidFill>
                <a:latin typeface="Georgia"/>
                <a:ea typeface="Yu Mincho"/>
              </a:rPr>
              <a:t>A short note from Create Project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1089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0" i="1">
                <a:solidFill>
                  <a:srgbClr val="1A1713"/>
                </a:solidFill>
                <a:latin typeface="Georgia"/>
                <a:ea typeface="Yu Mincho"/>
              </a:rPr>
              <a:t>on what the team has been building this quarter,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03B5A"/>
                </a:solidFill>
                <a:latin typeface="Georgia"/>
                <a:ea typeface="Yu Mincho"/>
              </a:rPr>
              <a:t>and where it is going next.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5303520"/>
            <a:ext cx="73152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5321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 spc="100">
                <a:solidFill>
                  <a:srgbClr val="3A3732"/>
                </a:solidFill>
                <a:latin typeface="Segoe UI"/>
                <a:ea typeface="Yu Gothic UI"/>
              </a:rPr>
              <a:t>今期に作ってきたもの、そしてこれからの行き先について、一筆。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ご挨拶   ·   A NOTE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02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仲間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THE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Seven makers.  One team.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0584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A1713"/>
                </a:solidFill>
                <a:latin typeface="Georgia"/>
                <a:ea typeface="Yu Mincho"/>
              </a:rPr>
              <a:t>Every strength is known — every role assigned accordingly.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346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一人ひとりの強みを把握し、役割を的確に振り分けています。</a:t>
            </a:r>
          </a:p>
        </p:txBody>
      </p:sp>
      <p:sp>
        <p:nvSpPr>
          <p:cNvPr id="9" name="Oval 8"/>
          <p:cNvSpPr/>
          <p:nvPr/>
        </p:nvSpPr>
        <p:spPr>
          <a:xfrm>
            <a:off x="201168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統率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Ambrose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Systems &amp; Product</a:t>
            </a:r>
          </a:p>
        </p:txBody>
      </p:sp>
      <p:sp>
        <p:nvSpPr>
          <p:cNvPr id="13" name="Oval 12"/>
          <p:cNvSpPr/>
          <p:nvPr/>
        </p:nvSpPr>
        <p:spPr>
          <a:xfrm>
            <a:off x="466344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Aita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Workflow Engine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0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基盤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Muzuva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Backend &amp; Pipeline</a:t>
            </a:r>
          </a:p>
        </p:txBody>
      </p:sp>
      <p:sp>
        <p:nvSpPr>
          <p:cNvPr id="21" name="Oval 20"/>
          <p:cNvSpPr/>
          <p:nvPr/>
        </p:nvSpPr>
        <p:spPr>
          <a:xfrm>
            <a:off x="9966959" y="365760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19" y="320040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運用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39502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Rodrick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39" y="425196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Deployment</a:t>
            </a:r>
          </a:p>
        </p:txBody>
      </p:sp>
      <p:sp>
        <p:nvSpPr>
          <p:cNvPr id="25" name="Oval 24"/>
          <p:cNvSpPr/>
          <p:nvPr/>
        </p:nvSpPr>
        <p:spPr>
          <a:xfrm>
            <a:off x="333756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3172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土台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Lauben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4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Infrastructure</a:t>
            </a:r>
          </a:p>
        </p:txBody>
      </p:sp>
      <p:sp>
        <p:nvSpPr>
          <p:cNvPr id="29" name="Oval 28"/>
          <p:cNvSpPr/>
          <p:nvPr/>
        </p:nvSpPr>
        <p:spPr>
          <a:xfrm>
            <a:off x="598932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8348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表層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Crispus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Frontend</a:t>
            </a:r>
          </a:p>
        </p:txBody>
      </p:sp>
      <p:sp>
        <p:nvSpPr>
          <p:cNvPr id="33" name="Oval 32"/>
          <p:cNvSpPr/>
          <p:nvPr/>
        </p:nvSpPr>
        <p:spPr>
          <a:xfrm>
            <a:off x="8641080" y="5120640"/>
            <a:ext cx="237744" cy="237744"/>
          </a:xfrm>
          <a:prstGeom prst="ellipse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46634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 i="0" spc="300">
                <a:solidFill>
                  <a:srgbClr val="203B5A"/>
                </a:solidFill>
                <a:latin typeface="Segoe UI"/>
                <a:ea typeface="Yu Gothic UI"/>
              </a:rPr>
              <a:t>補佐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54132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1A1713"/>
                </a:solidFill>
                <a:latin typeface="Georgia"/>
                <a:ea typeface="Yu Mincho"/>
              </a:rPr>
              <a:t>Otai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52360" y="5715000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Segoe UI"/>
                <a:ea typeface="Yu Gothic UI"/>
              </a:rPr>
              <a:t>Backend Support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603504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Engineering, product, infrastructure — all carried by the same seven people.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仲間   ·   THE TEAM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03 / 14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流儀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HOW WE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1">
                <a:solidFill>
                  <a:srgbClr val="3A3732"/>
                </a:solidFill>
                <a:latin typeface="Georgia"/>
                <a:ea typeface="Yu Mincho"/>
              </a:rPr>
              <a:t>Three principles every feature is held 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2402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732"/>
                </a:solidFill>
                <a:latin typeface="Segoe UI"/>
                <a:ea typeface="Yu Gothic UI"/>
              </a:rPr>
              <a:t>すべての機能が通る、三つの原則。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03B5A"/>
                </a:solidFill>
                <a:latin typeface="Georgia"/>
                <a:ea typeface="Yu Mincho"/>
              </a:rPr>
              <a:t>Traceability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23A2E"/>
                </a:solidFill>
                <a:latin typeface="Georgia"/>
                <a:ea typeface="Yu Mincho"/>
              </a:rPr>
              <a:t>追跡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416052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Every feature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maps back to a customer's exact words — no code without a request.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732"/>
                </a:solidFill>
                <a:latin typeface="Segoe UI"/>
                <a:ea typeface="Yu Gothic UI"/>
              </a:rPr>
              <a:t>顧客の言葉に紐づかない機能は、書かない。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03B5A"/>
                </a:solidFill>
                <a:latin typeface="Georgia"/>
                <a:ea typeface="Yu Mincho"/>
              </a:rPr>
              <a:t>Ownership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23A2E"/>
                </a:solidFill>
                <a:latin typeface="Georgia"/>
                <a:ea typeface="Yu Mincho"/>
              </a:rPr>
              <a:t>責任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416052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The engineer who ships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is the engineer who stands behind it when it runs in production.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732"/>
                </a:solidFill>
                <a:latin typeface="Segoe UI"/>
                <a:ea typeface="Yu Gothic UI"/>
              </a:rPr>
              <a:t>作る者が、運用を支える者になる。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971800"/>
            <a:ext cx="3474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203B5A"/>
                </a:solidFill>
                <a:latin typeface="Georgia"/>
                <a:ea typeface="Yu Mincho"/>
              </a:rPr>
              <a:t>Design first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356616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 spc="400">
                <a:solidFill>
                  <a:srgbClr val="B23A2E"/>
                </a:solidFill>
                <a:latin typeface="Georgia"/>
                <a:ea typeface="Yu Mincho"/>
              </a:rPr>
              <a:t>設計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4160520"/>
            <a:ext cx="457200" cy="127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29768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We prove the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66344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on paper before we write a line of code — rework starts before the build.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8064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 i="0" spc="100">
                <a:solidFill>
                  <a:srgbClr val="3A3732"/>
                </a:solidFill>
                <a:latin typeface="Segoe UI"/>
                <a:ea typeface="Yu Gothic UI"/>
              </a:rPr>
              <a:t>コードを書く前に、設計を確かめる。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流儀   ·   HOW WE BUILD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04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其ノ壱   ·   APPAREL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1A1713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3A3732"/>
                </a:solidFill>
                <a:latin typeface="Georgia"/>
                <a:ea typeface="Yu Mincho"/>
              </a:rPr>
              <a:t>A product photo becomes a full fashion campaign.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3A3732"/>
                </a:solidFill>
                <a:latin typeface="Segoe UI"/>
                <a:ea typeface="Yu Gothic UI"/>
              </a:rPr>
              <a:t>一枚の商品写真から、プロ仕様のキャンペーンへ。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A brand uploads one photo of a garment.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The team picks the model, the background, the mood.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1A1713"/>
                </a:solidFill>
                <a:latin typeface="Georgia"/>
                <a:ea typeface="Yu Mincho"/>
              </a:rPr>
              <a:t>In the time it takes to pour a coffee, a full campaign arrives 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203B5A"/>
                </a:solidFill>
                <a:latin typeface="Georgia"/>
                <a:ea typeface="Yu Mincho"/>
              </a:rPr>
              <a:t>every look, every angle, ready to publish.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其ノ壱 · APPAREL   ·   PRODUCT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05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実例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APPAREL · IN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A1713"/>
                </a:solidFill>
                <a:latin typeface="Georgia"/>
                <a:ea typeface="Yu Mincho"/>
              </a:rPr>
              <a:t>Apparel, in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The landing showcase, and the tool the team actually uses.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紹介ページと、実際のツール画面。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556248" y="2770632"/>
            <a:ext cx="4754880" cy="1920240"/>
          </a:xfrm>
          <a:prstGeom prst="rect">
            <a:avLst/>
          </a:prstGeom>
          <a:solidFill>
            <a:srgbClr val="BEB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pparel.png"/>
          <p:cNvPicPr>
            <a:picLocks noChangeAspect="1"/>
          </p:cNvPicPr>
          <p:nvPr/>
        </p:nvPicPr>
        <p:blipFill>
          <a:blip r:embed="rId2"/>
          <a:srcRect t="13000"/>
          <a:stretch>
            <a:fillRect/>
          </a:stretch>
        </p:blipFill>
        <p:spPr>
          <a:xfrm>
            <a:off x="6492240" y="2697480"/>
            <a:ext cx="4754880" cy="203319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5256" y="3621024"/>
            <a:ext cx="6949440" cy="2798064"/>
          </a:xfrm>
          <a:prstGeom prst="rect">
            <a:avLst/>
          </a:prstGeom>
          <a:solidFill>
            <a:srgbClr val="8F8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apparel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520440"/>
            <a:ext cx="6949440" cy="30050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実例   ·   APPAREL · IN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06 / 14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其ノ壱 · 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APPAREL · WHAT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What changes for the brands using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使う側のブランドにとって、何が変わるのか。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8B8A85"/>
                </a:solidFill>
                <a:latin typeface="Segoe UI"/>
                <a:ea typeface="Yu Gothic UI"/>
              </a:rPr>
              <a:t>BEFORE   ·   以前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365760" cy="12700"/>
          </a:xfrm>
          <a:prstGeom prst="rect">
            <a:avLst/>
          </a:prstGeom>
          <a:solidFill>
            <a:srgbClr val="8B8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campaign shoot took weeks to arrange.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studio, a model, a stylist, a flight.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One product, one set of photographs.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Full catalogues were a luxury only big brands bought.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AFTER   ·   以後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566160"/>
            <a:ext cx="365760" cy="1905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A campaign is ready in an afternoon.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One product photo becomes a full catalogue.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Any model, any background, any market.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Small brands now publish at flagship quality.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其ノ壱 · 変化   ·   APPAREL · WHAT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07 / 14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7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40080"/>
            <a:ext cx="22860" cy="576072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3E5B7E"/>
                </a:solidFill>
                <a:latin typeface="Segoe UI"/>
                <a:ea typeface="Yu Gothic UI"/>
              </a:rPr>
              <a:t>其ノ弐   ·  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051560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5EFE2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C9BEA7"/>
                </a:solidFill>
                <a:latin typeface="Georgia"/>
                <a:ea typeface="Yu Mincho"/>
              </a:rPr>
              <a:t>Upload a blueprint.  Get instant analysis, parts list, and inspection.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31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 spc="100">
                <a:solidFill>
                  <a:srgbClr val="C9BEA7"/>
                </a:solidFill>
                <a:latin typeface="Segoe UI"/>
                <a:ea typeface="Yu Gothic UI"/>
              </a:rPr>
              <a:t>図面を投げ込むだけで、解析・部品表・検査が返ってくる。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3108960"/>
            <a:ext cx="640080" cy="190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33756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An engineer drops a technical drawing into Blueprint.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977639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Minutes later, three answers come back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61772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F5EFE2"/>
                </a:solidFill>
                <a:latin typeface="Georgia"/>
                <a:ea typeface="Yu Mincho"/>
              </a:rPr>
              <a:t>the parts list, already tabled.  The errors, circled with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34924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The text, searchable as any document.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9BEA7"/>
                </a:solidFill>
                <a:latin typeface="Segoe UI"/>
                <a:ea typeface="Yu Gothic UI"/>
              </a:rPr>
              <a:t>其ノ弐 · BLUEPRINT   ·   PRODUCT TWO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C9BEA7"/>
                </a:solidFill>
                <a:latin typeface="Segoe UI"/>
                <a:ea typeface="Yu Gothic UI"/>
              </a:rPr>
              <a:t>08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03B5A"/>
                </a:solidFill>
                <a:latin typeface="Segoe UI"/>
                <a:ea typeface="Yu Gothic UI"/>
              </a:rPr>
              <a:t>動作中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03B5A"/>
                </a:solidFill>
                <a:latin typeface="Segoe UI"/>
                <a:ea typeface="Yu Gothic UI"/>
              </a:rPr>
              <a:t>BLUEPRINT · AT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A1713"/>
                </a:solidFill>
                <a:latin typeface="Georgia"/>
                <a:ea typeface="Yu Mincho"/>
              </a:rPr>
              <a:t>Blueprint, at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From the entry page to the parts list it extracts from a drawing.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入口から、図面より抽出される構造化された部品表まで。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739128" y="2770632"/>
            <a:ext cx="4572000" cy="2167127"/>
          </a:xfrm>
          <a:prstGeom prst="rect">
            <a:avLst/>
          </a:prstGeom>
          <a:solidFill>
            <a:srgbClr val="BEB3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b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697480"/>
            <a:ext cx="4572000" cy="195635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05256" y="3529584"/>
            <a:ext cx="6400800" cy="2962656"/>
          </a:xfrm>
          <a:prstGeom prst="rect">
            <a:avLst/>
          </a:prstGeom>
          <a:solidFill>
            <a:srgbClr val="8F83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b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29000"/>
            <a:ext cx="6400800" cy="27417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動作中   ·   BLUEPRINT · AT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09 / 14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03B5A"/>
                </a:solidFill>
                <a:latin typeface="Segoe UI"/>
                <a:ea typeface="Yu Gothic UI"/>
              </a:rPr>
              <a:t>其ノ弐 · 変化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03B5A"/>
                </a:solidFill>
                <a:latin typeface="Segoe UI"/>
                <a:ea typeface="Yu Gothic UI"/>
              </a:rPr>
              <a:t>BLUEPRINT · WHAT CHANGES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What changes for the engineers using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使う側のエンジニアにとって、何が変わるのか。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8B8A85"/>
                </a:solidFill>
                <a:latin typeface="Segoe UI"/>
                <a:ea typeface="Yu Gothic UI"/>
              </a:rPr>
              <a:t>BEFORE   ·   以前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66160"/>
            <a:ext cx="365760" cy="12700"/>
          </a:xfrm>
          <a:prstGeom prst="rect">
            <a:avLst/>
          </a:prstGeom>
          <a:solidFill>
            <a:srgbClr val="8B8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A single drawing took hours to review by hand.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Parts were counted one by one into spreadsheets.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Errors slipped through until the factory caught them.</a:t>
            </a:r>
          </a:p>
          <a:p>
            <a:pPr algn="l">
              <a:lnSpc>
                <a:spcPct val="150000"/>
              </a:lnSpc>
            </a:pPr>
            <a:r>
              <a:rPr sz="1800" b="0" i="1">
                <a:solidFill>
                  <a:srgbClr val="8B8A85"/>
                </a:solidFill>
                <a:latin typeface="Georgia"/>
                <a:ea typeface="Yu Mincho"/>
              </a:rPr>
              <a:t>Every revision meant starting the review over.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AFTER   ·   以後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566160"/>
            <a:ext cx="365760" cy="1905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374904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The same drawing takes minutes.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The parts list appears, already structured for export.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Inconsistencies are flagged before production begins.</a:t>
            </a:r>
          </a:p>
          <a:p>
            <a:pPr algn="l">
              <a:lnSpc>
                <a:spcPct val="150000"/>
              </a:lnSpc>
            </a:pPr>
            <a:r>
              <a:rPr sz="1800" b="1" i="0">
                <a:solidFill>
                  <a:srgbClr val="1A1713"/>
                </a:solidFill>
                <a:latin typeface="Georgia"/>
                <a:ea typeface="Yu Mincho"/>
              </a:rPr>
              <a:t>Engineers move from checking to confirming.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其ノ弐 · 変化   ·   BLUEPRINT · WHAT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10 / 14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203B5A"/>
                </a:solidFill>
                <a:latin typeface="Segoe UI"/>
                <a:ea typeface="Yu Gothic UI"/>
              </a:rPr>
              <a:t>学び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203B5A"/>
                </a:solidFill>
                <a:latin typeface="Segoe UI"/>
                <a:ea typeface="Yu Gothic UI"/>
              </a:rPr>
              <a:t>WHAT WE'VE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A1713"/>
                </a:solidFill>
                <a:latin typeface="Georgia"/>
                <a:ea typeface="Yu Mincho"/>
              </a:rPr>
              <a:t>Three lessons the quarter pressed into us.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3A3732"/>
                </a:solidFill>
                <a:latin typeface="Segoe UI"/>
                <a:ea typeface="Yu Gothic UI"/>
              </a:rPr>
              <a:t>今期、現場が教えてくれた三つのこと。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23A2E"/>
                </a:solidFill>
                <a:latin typeface="Georgia"/>
                <a:ea typeface="Yu Mincho"/>
              </a:rPr>
              <a:t>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97180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03B5A"/>
                </a:solidFill>
                <a:latin typeface="Georgia"/>
                <a:ea typeface="Yu Mincho"/>
              </a:rPr>
              <a:t>Responsibility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342900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23A2E"/>
                </a:solidFill>
                <a:latin typeface="Segoe UI"/>
                <a:ea typeface="Yu Gothic UI"/>
              </a:rPr>
              <a:t>責任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9008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A process only one person can run is a risk the whole team carries.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42900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732"/>
                </a:solidFill>
                <a:latin typeface="Georgia"/>
                <a:ea typeface="Yu Mincho"/>
              </a:rPr>
              <a:t>This quarter we retired two single-person dependencies by documenting them out loud.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81304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一人しか動かせない工程は、チーム全体のリスクでした。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087368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20624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23A2E"/>
                </a:solidFill>
                <a:latin typeface="Georgia"/>
                <a:ea typeface="Yu Mincho"/>
              </a:rPr>
              <a:t>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16052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03B5A"/>
                </a:solidFill>
                <a:latin typeface="Georgia"/>
                <a:ea typeface="Yu Mincho"/>
              </a:rPr>
              <a:t>Listening to the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6177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23A2E"/>
                </a:solidFill>
                <a:latin typeface="Segoe UI"/>
                <a:ea typeface="Yu Gothic UI"/>
              </a:rPr>
              <a:t>顧客の声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17880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Customers find the problems our tests and monitors cannot.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61772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732"/>
                </a:solidFill>
                <a:latin typeface="Georgia"/>
                <a:ea typeface="Yu Mincho"/>
              </a:rPr>
              <a:t>Our best fixes this quarter came from support tickets, not from dashboards.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00176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最良の修正は、監視画面ではなく顧客の声から生まれました。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276088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39496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B23A2E"/>
                </a:solidFill>
                <a:latin typeface="Georgia"/>
                <a:ea typeface="Yu Mincho"/>
              </a:rPr>
              <a:t>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349240"/>
            <a:ext cx="2651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 spc="200">
                <a:solidFill>
                  <a:srgbClr val="203B5A"/>
                </a:solidFill>
                <a:latin typeface="Georgia"/>
                <a:ea typeface="Yu Mincho"/>
              </a:rPr>
              <a:t>Documentation is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80644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1" spc="200">
                <a:solidFill>
                  <a:srgbClr val="B23A2E"/>
                </a:solidFill>
                <a:latin typeface="Segoe UI"/>
                <a:ea typeface="Yu Gothic UI"/>
              </a:rPr>
              <a:t>文書化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367528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 i="1">
                <a:solidFill>
                  <a:srgbClr val="1A1713"/>
                </a:solidFill>
                <a:latin typeface="Georgia"/>
                <a:ea typeface="Yu Mincho"/>
              </a:rPr>
              <a:t>Docs ship with the code, or they never ship at all.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806440"/>
            <a:ext cx="6949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1">
                <a:solidFill>
                  <a:srgbClr val="3A3732"/>
                </a:solidFill>
                <a:latin typeface="Georgia"/>
                <a:ea typeface="Yu Mincho"/>
              </a:rPr>
              <a:t>Every shortcut we took on documentation became next sprint's delay.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6190488"/>
            <a:ext cx="6949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省いた文書は、次のスプリントの遅延になりました。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6464808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学び   ·   WHAT WE'VE LEARNED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11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7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7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IN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In Brief.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Four figures that map this quarter — the journey in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176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四つの数字でたどる、今期の歩み。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4434840"/>
            <a:ext cx="8686800" cy="9525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3280" y="4370832"/>
            <a:ext cx="91440" cy="1371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4370832"/>
            <a:ext cx="91440" cy="1371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0" y="4370832"/>
            <a:ext cx="91440" cy="1371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463039" y="3794759"/>
            <a:ext cx="1280160" cy="1280160"/>
          </a:xfrm>
          <a:prstGeom prst="ellipse">
            <a:avLst/>
          </a:prstGeom>
          <a:solidFill>
            <a:srgbClr val="ECE3D0"/>
          </a:solidFill>
          <a:ln w="15875"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19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B23A2E"/>
                </a:solidFill>
                <a:latin typeface="Georgia"/>
                <a:ea typeface="Yu Mincho"/>
              </a:rPr>
              <a:t>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03B5A"/>
                </a:solidFill>
                <a:latin typeface="Georgia"/>
                <a:ea typeface="Yu Minch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79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products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79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Georgia"/>
                <a:ea typeface="Yu Mincho"/>
              </a:rPr>
              <a:t>in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79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本番稼働中</a:t>
            </a:r>
          </a:p>
        </p:txBody>
      </p:sp>
      <p:sp>
        <p:nvSpPr>
          <p:cNvPr id="19" name="Oval 18"/>
          <p:cNvSpPr/>
          <p:nvPr/>
        </p:nvSpPr>
        <p:spPr>
          <a:xfrm>
            <a:off x="4114799" y="3794759"/>
            <a:ext cx="1280160" cy="1280160"/>
          </a:xfrm>
          <a:prstGeom prst="ellipse">
            <a:avLst/>
          </a:prstGeom>
          <a:solidFill>
            <a:srgbClr val="ECE3D0"/>
          </a:solidFill>
          <a:ln w="15875"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79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B23A2E"/>
                </a:solidFill>
                <a:latin typeface="Georgia"/>
                <a:ea typeface="Yu Mincho"/>
              </a:rPr>
              <a:t>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79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000" b="1" i="0">
                <a:solidFill>
                  <a:srgbClr val="203B5A"/>
                </a:solidFill>
                <a:latin typeface="Georgia"/>
                <a:ea typeface="Yu Mincho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39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engineers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39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Georgia"/>
                <a:ea typeface="Yu Mincho"/>
              </a:rPr>
              <a:t>one end-to-end team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39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一つのチーム</a:t>
            </a:r>
          </a:p>
        </p:txBody>
      </p:sp>
      <p:sp>
        <p:nvSpPr>
          <p:cNvPr id="25" name="Oval 24"/>
          <p:cNvSpPr/>
          <p:nvPr/>
        </p:nvSpPr>
        <p:spPr>
          <a:xfrm>
            <a:off x="6766559" y="3794759"/>
            <a:ext cx="1280160" cy="1280160"/>
          </a:xfrm>
          <a:prstGeom prst="ellipse">
            <a:avLst/>
          </a:prstGeom>
          <a:solidFill>
            <a:srgbClr val="ECE3D0"/>
          </a:solidFill>
          <a:ln w="15875"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0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B23A2E"/>
                </a:solidFill>
                <a:latin typeface="Georgia"/>
                <a:ea typeface="Yu Mincho"/>
              </a:rPr>
              <a:t>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03B5A"/>
                </a:solidFill>
                <a:latin typeface="Georgia"/>
                <a:ea typeface="Yu Mincho"/>
              </a:rPr>
              <a:t>1 → 100+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one product photo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Georgia"/>
                <a:ea typeface="Yu Mincho"/>
              </a:rPr>
              <a:t>becomes a full campaign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一枚から百枚超へ</a:t>
            </a:r>
          </a:p>
        </p:txBody>
      </p:sp>
      <p:sp>
        <p:nvSpPr>
          <p:cNvPr id="31" name="Oval 30"/>
          <p:cNvSpPr/>
          <p:nvPr/>
        </p:nvSpPr>
        <p:spPr>
          <a:xfrm>
            <a:off x="9418320" y="3794759"/>
            <a:ext cx="1280160" cy="1280160"/>
          </a:xfrm>
          <a:prstGeom prst="ellipse">
            <a:avLst/>
          </a:prstGeom>
          <a:solidFill>
            <a:srgbClr val="ECE3D0"/>
          </a:solidFill>
          <a:ln w="15875"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3200399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 spc="300">
                <a:solidFill>
                  <a:srgbClr val="B23A2E"/>
                </a:solidFill>
                <a:latin typeface="Georgia"/>
                <a:ea typeface="Yu Mincho"/>
              </a:rPr>
              <a:t>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4023359"/>
            <a:ext cx="13716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03B5A"/>
                </a:solidFill>
                <a:latin typeface="Georgia"/>
                <a:ea typeface="Yu Mincho"/>
              </a:rPr>
              <a:t>hrs → 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3960" y="5212079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1A1713"/>
                </a:solidFill>
                <a:latin typeface="Georgia"/>
                <a:ea typeface="Yu Mincho"/>
              </a:rPr>
              <a:t>blueprint reviews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5532120"/>
            <a:ext cx="2468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 i="1">
                <a:solidFill>
                  <a:srgbClr val="3A3732"/>
                </a:solidFill>
                <a:latin typeface="Georgia"/>
                <a:ea typeface="Yu Mincho"/>
              </a:rPr>
              <a:t>hours down to minutes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23960" y="58795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3A3732"/>
                </a:solidFill>
                <a:latin typeface="Segoe UI"/>
                <a:ea typeface="Yu Gothic UI"/>
              </a:rPr>
              <a:t>数時間から数分へ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6217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 i="1" spc="100">
                <a:solidFill>
                  <a:srgbClr val="8B8A85"/>
                </a:solidFill>
                <a:latin typeface="Segoe UI"/>
                <a:ea typeface="Yu Gothic UI"/>
              </a:rPr>
              <a:t>Figures directional for this note; final numbers confirmed at quarter-end.   数字は目安、四半期締めに確定。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465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8B8A85"/>
                </a:solidFill>
                <a:latin typeface="Segoe UI"/>
                <a:ea typeface="Yu Gothic UI"/>
              </a:rPr>
              <a:t>概要   ·   IN BRIEF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12 / 14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EFE2"/>
                </a:solidFill>
                <a:latin typeface="Segoe UI"/>
                <a:ea typeface="Yu Gothic UI"/>
              </a:rPr>
              <a:t>これから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F5EFE2"/>
                </a:solidFill>
                <a:latin typeface="Segoe UI"/>
                <a:ea typeface="Yu Gothic UI"/>
              </a:rPr>
              <a:t>THE NEXT 90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5EFE2"/>
                </a:solidFill>
                <a:latin typeface="Georgia"/>
                <a:ea typeface="Yu Mincho"/>
              </a:rPr>
              <a:t>Three concrete moves by quarter-end.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31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 spc="100">
                <a:solidFill>
                  <a:srgbClr val="C9BEA7"/>
                </a:solidFill>
                <a:latin typeface="Segoe UI"/>
                <a:ea typeface="Yu Gothic UI"/>
              </a:rPr>
              <a:t>四半期内に、確実に進める三手。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06324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EFE2"/>
                </a:solidFill>
                <a:latin typeface="Georgia"/>
                <a:ea typeface="Yu Mincho"/>
              </a:rPr>
              <a:t>Users are already on board.  We sharpen the background engine 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4290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BEA7"/>
                </a:solidFill>
                <a:latin typeface="Georgia"/>
                <a:ea typeface="Yu Mincho"/>
              </a:rPr>
              <a:t>new perspectives, richer scenes, a visibly better experience.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84048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C9BEA7"/>
                </a:solidFill>
                <a:latin typeface="Segoe UI"/>
                <a:ea typeface="Yu Gothic UI"/>
              </a:rPr>
              <a:t>背景生成の精度と構図を引き上げ、体験をもう一段高めます。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114800"/>
            <a:ext cx="1115568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06908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411480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EFE2"/>
                </a:solidFill>
                <a:latin typeface="Georgia"/>
                <a:ea typeface="Yu Mincho"/>
              </a:rPr>
              <a:t>New workflows tailored for specific organisations.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4805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BEA7"/>
                </a:solidFill>
                <a:latin typeface="Georgia"/>
                <a:ea typeface="Yu Mincho"/>
              </a:rPr>
              <a:t>Stabilise, test, and harden what's already shipped.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89204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C9BEA7"/>
                </a:solidFill>
                <a:latin typeface="Segoe UI"/>
                <a:ea typeface="Yu Gothic UI"/>
              </a:rPr>
              <a:t>特定組織向けの新ワークフロー追加と、既存機能の安定化・検証。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5166360"/>
            <a:ext cx="1115568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20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B23A2E"/>
                </a:solidFill>
                <a:latin typeface="Georgia"/>
                <a:ea typeface="Yu Mincho"/>
              </a:rPr>
              <a:t>The 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16636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5EFE2"/>
                </a:solidFill>
                <a:latin typeface="Georgia"/>
                <a:ea typeface="Yu Mincho"/>
              </a:rPr>
              <a:t>Close the last single-person dependencies.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5532120"/>
            <a:ext cx="8412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9BEA7"/>
                </a:solidFill>
                <a:latin typeface="Georgia"/>
                <a:ea typeface="Yu Mincho"/>
              </a:rPr>
              <a:t>Turn the learnings from both products into shared team playbooks.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5943600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 spc="100">
                <a:solidFill>
                  <a:srgbClr val="C9BEA7"/>
                </a:solidFill>
                <a:latin typeface="Segoe UI"/>
                <a:ea typeface="Yu Gothic UI"/>
              </a:rPr>
              <a:t>単独依存を解消し、両プロダクトの学びをチームの手引きに。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17920"/>
            <a:ext cx="11155680" cy="6350"/>
          </a:xfrm>
          <a:prstGeom prst="rect">
            <a:avLst/>
          </a:prstGeom>
          <a:solidFill>
            <a:srgbClr val="3E5B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C9BEA7"/>
                </a:solidFill>
                <a:latin typeface="Segoe UI"/>
                <a:ea typeface="Yu Gothic UI"/>
              </a:rPr>
              <a:t>13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23A2E"/>
                </a:solidFill>
                <a:latin typeface="Segoe UI"/>
                <a:ea typeface="Yu Gothic UI"/>
              </a:rPr>
              <a:t>お伺い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326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600">
                <a:solidFill>
                  <a:srgbClr val="B23A2E"/>
                </a:solidFill>
                <a:latin typeface="Segoe UI"/>
                <a:ea typeface="Yu Gothic UI"/>
              </a:rPr>
              <a:t>ONE REQUEST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325880"/>
            <a:ext cx="10515600" cy="6350"/>
          </a:xfrm>
          <a:prstGeom prst="rect">
            <a:avLst/>
          </a:prstGeom>
          <a:solidFill>
            <a:srgbClr val="C9BE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600" b="1" i="0">
                <a:solidFill>
                  <a:srgbClr val="1A1713"/>
                </a:solidFill>
                <a:latin typeface="Georgia"/>
                <a:ea typeface="Yu Mincho"/>
              </a:rPr>
              <a:t>Which of the two would you like us to open next?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7889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0" i="1" spc="100">
                <a:solidFill>
                  <a:srgbClr val="3A3732"/>
                </a:solidFill>
                <a:latin typeface="Segoe UI"/>
                <a:ea typeface="Yu Gothic UI"/>
              </a:rPr>
              <a:t>どちらの作品を、次にご覧になりたいですか。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37560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1">
                <a:solidFill>
                  <a:srgbClr val="3A3732"/>
                </a:solidFill>
                <a:latin typeface="Georgia"/>
                <a:ea typeface="Yu Mincho"/>
              </a:rPr>
              <a:t>We'd be glad to walk the team deeper into whichever one interests you.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0967" y="3886200"/>
            <a:ext cx="4572000" cy="214884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0967" y="3886200"/>
            <a:ext cx="4572000" cy="22860"/>
          </a:xfrm>
          <a:prstGeom prst="rect">
            <a:avLst/>
          </a:prstGeom>
          <a:solidFill>
            <a:srgbClr val="B2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672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B23A2E"/>
                </a:solidFill>
                <a:latin typeface="Segoe UI"/>
                <a:ea typeface="Yu Gothic UI"/>
              </a:rPr>
              <a:t>其ノ壱   ·   APPAREL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0672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Apparel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672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One product photo, a full campaign.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0672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一枚の写真が、キャンペーンに。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78727" y="3886200"/>
            <a:ext cx="4572000" cy="2148840"/>
          </a:xfrm>
          <a:prstGeom prst="rect">
            <a:avLst/>
          </a:prstGeom>
          <a:solidFill>
            <a:srgbClr val="ECE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78727" y="3886200"/>
            <a:ext cx="4572000" cy="22860"/>
          </a:xfrm>
          <a:prstGeom prst="rect">
            <a:avLst/>
          </a:prstGeom>
          <a:solidFill>
            <a:srgbClr val="20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44487" y="41148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03B5A"/>
                </a:solidFill>
                <a:latin typeface="Segoe UI"/>
                <a:ea typeface="Yu Gothic UI"/>
              </a:rPr>
              <a:t>其ノ弐   ·   BLUEPRINT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4487" y="448056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 i="0">
                <a:solidFill>
                  <a:srgbClr val="1A1713"/>
                </a:solidFill>
                <a:latin typeface="Georgia"/>
                <a:ea typeface="Yu Mincho"/>
              </a:rPr>
              <a:t>Blueprint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4487" y="5257800"/>
            <a:ext cx="45720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3A3732"/>
                </a:solidFill>
                <a:latin typeface="Georgia"/>
                <a:ea typeface="Yu Mincho"/>
              </a:rPr>
              <a:t>One blueprint, a parts list and inspection.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44487" y="559612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 spc="100">
                <a:solidFill>
                  <a:srgbClr val="3A3732"/>
                </a:solidFill>
                <a:latin typeface="Segoe UI"/>
                <a:ea typeface="Yu Gothic UI"/>
              </a:rPr>
              <a:t>一枚の図面が、部品表と検査に。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018520" y="5897880"/>
            <a:ext cx="640080" cy="640080"/>
          </a:xfrm>
          <a:prstGeom prst="rect">
            <a:avLst/>
          </a:prstGeom>
          <a:solidFill>
            <a:srgbClr val="B23A2E"/>
          </a:solidFill>
          <a:ln>
            <a:solidFill>
              <a:srgbClr val="B23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18520" y="5897880"/>
            <a:ext cx="6400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400" b="1" i="0">
                <a:solidFill>
                  <a:srgbClr val="F5EFE2"/>
                </a:solidFill>
                <a:latin typeface="Georgia"/>
                <a:ea typeface="Yu Mincho"/>
              </a:rPr>
              <a:t>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30936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 spc="300">
                <a:solidFill>
                  <a:srgbClr val="8B8A85"/>
                </a:solidFill>
                <a:latin typeface="Segoe UI"/>
                <a:ea typeface="Yu Gothic UI"/>
              </a:rPr>
              <a:t>alanda.ambrose@aibos.co.jp   ·   Create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 spc="400">
                <a:solidFill>
                  <a:srgbClr val="8B8A85"/>
                </a:solidFill>
                <a:latin typeface="Segoe UI"/>
                <a:ea typeface="Yu Gothic UI"/>
              </a:rPr>
              <a:t>14 / 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7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