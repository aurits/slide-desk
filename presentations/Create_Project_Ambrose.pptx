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54872"/>
                </a:solidFill>
                <a:latin typeface="Corbel"/>
                <a:ea typeface="Yu Gothic UI"/>
              </a:rPr>
              <a:t>AIBOS   ·   CREATE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64008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 i="1">
                <a:solidFill>
                  <a:srgbClr val="254872"/>
                </a:solidFill>
                <a:latin typeface="Sitka Banner"/>
                <a:ea typeface="Yu Mincho"/>
              </a:rPr>
              <a:t>A Note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0" b="1" i="0">
                <a:solidFill>
                  <a:srgbClr val="151211"/>
                </a:solidFill>
                <a:latin typeface="Sitka Banner"/>
                <a:ea typeface="Yu Mincho"/>
              </a:rPr>
              <a:t>Create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480560"/>
            <a:ext cx="64008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A3530"/>
                </a:solidFill>
                <a:latin typeface="Sitka Banner"/>
                <a:ea typeface="Yu Mincho"/>
              </a:rPr>
              <a:t>Two products, a team of six, and the quarter behind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530"/>
                </a:solidFill>
                <a:latin typeface="Corbel"/>
                <a:ea typeface="Yu Gothic UI"/>
              </a:rPr>
              <a:t>二つのプロダクト、六人のチーム、そしてこの四半期の歩み。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200">
                <a:solidFill>
                  <a:srgbClr val="254872"/>
                </a:solidFill>
                <a:latin typeface="Corbel"/>
                <a:ea typeface="Yu Gothic UI"/>
              </a:rPr>
              <a:t>クリエイト・プロジェクト便り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17920"/>
            <a:ext cx="1042416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3A3530"/>
                </a:solidFill>
                <a:latin typeface="Corbel"/>
                <a:ea typeface="Yu Gothic UI"/>
              </a:rPr>
              <a:t>Q2 · 2026年春   ·   Spring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309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 spc="500">
                <a:solidFill>
                  <a:srgbClr val="3A3530"/>
                </a:solidFill>
                <a:latin typeface="Corbel"/>
                <a:ea typeface="Yu Gothic UI"/>
              </a:rPr>
              <a:t>FOR THE BOARD   ·   取締役会用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solidFill>
            <a:srgbClr val="B15030"/>
          </a:solidFill>
          <a:ln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4EEE3"/>
                </a:solidFill>
                <a:latin typeface="Sitka Banner"/>
                <a:ea typeface="Yu Mincho"/>
              </a:rPr>
              <a:t>創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ご挨拶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 NOTE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51211"/>
                </a:solidFill>
                <a:latin typeface="Sitka Banner"/>
                <a:ea typeface="Yu Mincho"/>
              </a:rPr>
              <a:t>A short note from Create Project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51211"/>
                </a:solidFill>
                <a:latin typeface="Sitka Banner"/>
                <a:ea typeface="Yu Mincho"/>
              </a:rPr>
              <a:t>on what the team has been building this quarter,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54872"/>
                </a:solidFill>
                <a:latin typeface="Sitka Banner"/>
                <a:ea typeface="Yu Mincho"/>
              </a:rPr>
              <a:t>and where it is going 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303520"/>
            <a:ext cx="73152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5321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 spc="100">
                <a:solidFill>
                  <a:srgbClr val="3A3530"/>
                </a:solidFill>
                <a:latin typeface="Corbel"/>
                <a:ea typeface="Yu Gothic UI"/>
              </a:rPr>
              <a:t>今期に作ってきたもの、そしてこれからの行き先について、一筆。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ご挨拶   ·   A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02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仲間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Six makers.  Two products.  One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51211"/>
                </a:solidFill>
                <a:latin typeface="Sitka Banner"/>
                <a:ea typeface="Yu Mincho"/>
              </a:rPr>
              <a:t>Every strength is known — every role assigned accordingly.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530"/>
                </a:solidFill>
                <a:latin typeface="Corbel"/>
                <a:ea typeface="Yu Gothic UI"/>
              </a:rPr>
              <a:t>一人ひとりの強みを把握し、役割を的確に振り分けています。</a:t>
            </a:r>
          </a:p>
        </p:txBody>
      </p:sp>
      <p:sp>
        <p:nvSpPr>
          <p:cNvPr id="9" name="Oval 8"/>
          <p:cNvSpPr/>
          <p:nvPr/>
        </p:nvSpPr>
        <p:spPr>
          <a:xfrm>
            <a:off x="2286000" y="370332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統率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959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Ambrose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Systems &amp; Product</a:t>
            </a:r>
          </a:p>
        </p:txBody>
      </p:sp>
      <p:sp>
        <p:nvSpPr>
          <p:cNvPr id="13" name="Oval 12"/>
          <p:cNvSpPr/>
          <p:nvPr/>
        </p:nvSpPr>
        <p:spPr>
          <a:xfrm>
            <a:off x="6099048" y="370332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3246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39959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Aita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4343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Workflow Engine</a:t>
            </a:r>
          </a:p>
        </p:txBody>
      </p:sp>
      <p:sp>
        <p:nvSpPr>
          <p:cNvPr id="17" name="Oval 16"/>
          <p:cNvSpPr/>
          <p:nvPr/>
        </p:nvSpPr>
        <p:spPr>
          <a:xfrm>
            <a:off x="9912096" y="370332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1936" y="3246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基盤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39959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4343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Backend &amp; Pipeline</a:t>
            </a:r>
          </a:p>
        </p:txBody>
      </p:sp>
      <p:sp>
        <p:nvSpPr>
          <p:cNvPr id="21" name="Oval 20"/>
          <p:cNvSpPr/>
          <p:nvPr/>
        </p:nvSpPr>
        <p:spPr>
          <a:xfrm>
            <a:off x="2286000" y="516636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709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土台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458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Lauben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Infrastructure</a:t>
            </a:r>
          </a:p>
        </p:txBody>
      </p:sp>
      <p:sp>
        <p:nvSpPr>
          <p:cNvPr id="25" name="Oval 24"/>
          <p:cNvSpPr/>
          <p:nvPr/>
        </p:nvSpPr>
        <p:spPr>
          <a:xfrm>
            <a:off x="6099048" y="516636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8888" y="4709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表層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5458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5806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Frontend</a:t>
            </a:r>
          </a:p>
        </p:txBody>
      </p:sp>
      <p:sp>
        <p:nvSpPr>
          <p:cNvPr id="29" name="Oval 28"/>
          <p:cNvSpPr/>
          <p:nvPr/>
        </p:nvSpPr>
        <p:spPr>
          <a:xfrm>
            <a:off x="9912096" y="516636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31936" y="4709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補佐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1936" y="5458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Otai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5806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Backend Support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603504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Engineering, product, infrastructure — all carried by the same six people.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仲間   ·   THE TEAM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03 / 17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流儀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HOW WE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3A3530"/>
                </a:solidFill>
                <a:latin typeface="Sitka Banner"/>
                <a:ea typeface="Yu Mincho"/>
              </a:rPr>
              <a:t>Three principles every feature is held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530"/>
                </a:solidFill>
                <a:latin typeface="Corbel"/>
                <a:ea typeface="Yu Gothic UI"/>
              </a:rPr>
              <a:t>すべての機能が通る、三つの原則。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4872"/>
                </a:solidFill>
                <a:latin typeface="Sitka Banner"/>
                <a:ea typeface="Yu Mincho"/>
              </a:rPr>
              <a:t>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15030"/>
                </a:solidFill>
                <a:latin typeface="Sitka Banner"/>
                <a:ea typeface="Yu Mincho"/>
              </a:rPr>
              <a:t>追跡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60520"/>
            <a:ext cx="457200" cy="127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Every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maps back to a customer's exact words — no code without a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530"/>
                </a:solidFill>
                <a:latin typeface="Corbel"/>
                <a:ea typeface="Yu Gothic UI"/>
              </a:rPr>
              <a:t>顧客の言葉に紐づかない機能は、書かない。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4872"/>
                </a:solidFill>
                <a:latin typeface="Sitka Banner"/>
                <a:ea typeface="Yu Mincho"/>
              </a:rPr>
              <a:t>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15030"/>
                </a:solidFill>
                <a:latin typeface="Sitka Banner"/>
                <a:ea typeface="Yu Mincho"/>
              </a:rPr>
              <a:t>責任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160520"/>
            <a:ext cx="457200" cy="127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The engineer who ships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is the engineer who stands behind it when it runs in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530"/>
                </a:solidFill>
                <a:latin typeface="Corbel"/>
                <a:ea typeface="Yu Gothic UI"/>
              </a:rPr>
              <a:t>作る者が、運用を支える者になる。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4872"/>
                </a:solidFill>
                <a:latin typeface="Sitka Banner"/>
                <a:ea typeface="Yu Mincho"/>
              </a:rPr>
              <a:t>Design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15030"/>
                </a:solidFill>
                <a:latin typeface="Sitka Banner"/>
                <a:ea typeface="Yu Mincho"/>
              </a:rPr>
              <a:t>設計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4160520"/>
            <a:ext cx="457200" cy="127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We prove the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on paper before we write a line of code — rework starts before the build.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530"/>
                </a:solidFill>
                <a:latin typeface="Corbel"/>
                <a:ea typeface="Yu Gothic UI"/>
              </a:rPr>
              <a:t>コードを書く前に、設計を確かめる。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流儀   ·   HOW WE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04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15030"/>
                </a:solidFill>
                <a:latin typeface="Corbel"/>
                <a:ea typeface="Yu Gothic UI"/>
              </a:rPr>
              <a:t>其ノ壱   ·   APPAREL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151211"/>
                </a:solidFill>
                <a:latin typeface="Sitka Banner"/>
                <a:ea typeface="Yu Mincho"/>
              </a:rPr>
              <a:t>Apparel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A3530"/>
                </a:solidFill>
                <a:latin typeface="Sitka Banner"/>
                <a:ea typeface="Yu Mincho"/>
              </a:rPr>
              <a:t>A product photo becomes a full fashion campaign.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530"/>
                </a:solidFill>
                <a:latin typeface="Corbel"/>
                <a:ea typeface="Yu Gothic UI"/>
              </a:rPr>
              <a:t>一枚の商品写真から、プロ仕様のキャンペーンへ。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51211"/>
                </a:solidFill>
                <a:latin typeface="Sitka Banner"/>
                <a:ea typeface="Yu Mincho"/>
              </a:rPr>
              <a:t>A brand uploads one photo of a garment.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51211"/>
                </a:solidFill>
                <a:latin typeface="Sitka Banner"/>
                <a:ea typeface="Yu Mincho"/>
              </a:rPr>
              <a:t>The team picks the model, the background, the mood.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51211"/>
                </a:solidFill>
                <a:latin typeface="Sitka Banner"/>
                <a:ea typeface="Yu Mincho"/>
              </a:rPr>
              <a:t>In the time it takes to pour a coffee, a full campaign arrives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578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every look, every angle, ready to publish.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其ノ壱 · APPAREL   ·   PRODUCT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05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APPAREL ·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51211"/>
                </a:solidFill>
                <a:latin typeface="Sitka Banner"/>
                <a:ea typeface="Yu Mincho"/>
              </a:rPr>
              <a:t>Apparel, in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The landing showcase, and the tool the team actually 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紹介ページと、実際のツール画面。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6248" y="2770632"/>
            <a:ext cx="4754880" cy="1768815"/>
          </a:xfrm>
          <a:prstGeom prst="rect">
            <a:avLst/>
          </a:prstGeom>
          <a:solidFill>
            <a:srgbClr val="BEB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parel.png"/>
          <p:cNvPicPr>
            <a:picLocks noChangeAspect="1"/>
          </p:cNvPicPr>
          <p:nvPr/>
        </p:nvPicPr>
        <p:blipFill>
          <a:blip r:embed="rId2"/>
          <a:srcRect t="13000"/>
          <a:stretch>
            <a:fillRect/>
          </a:stretch>
        </p:blipFill>
        <p:spPr>
          <a:xfrm>
            <a:off x="6492240" y="2697480"/>
            <a:ext cx="4754880" cy="176881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5256" y="3621024"/>
            <a:ext cx="6400800" cy="2765145"/>
          </a:xfrm>
          <a:prstGeom prst="rect">
            <a:avLst/>
          </a:prstGeom>
          <a:solidFill>
            <a:srgbClr val="8F8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ppar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20440"/>
            <a:ext cx="6400800" cy="27651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実例   ·   APPAREL · IN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06 / 17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進捗 · 其ノ壱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APPAREL · NOW &amp;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Apparel — now and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What's running, what's coming, who's doing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今、進めていること。次に取り掛かること。担うのは誰か。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898378"/>
                </a:solidFill>
                <a:latin typeface="Corbel"/>
                <a:ea typeface="Yu Gothic UI"/>
              </a:rPr>
              <a:t>NOW · 進行中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38728"/>
            <a:ext cx="502920" cy="19050"/>
          </a:xfrm>
          <a:prstGeom prst="rect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93192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Production monitoring + GCP cost oversight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本番運用とGCP費用の監視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70916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Multi-angle background consistency — R&amp;D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多角度背景の一貫性 — 検証中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48640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394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Client-driven UX adjustments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760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顧客要望によるUX調整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626364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6172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ComfyUI pipeline 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537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ComfyUIパイプラインの保守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5468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B15030"/>
                </a:solidFill>
                <a:latin typeface="Corbel"/>
                <a:ea typeface="Yu Gothic UI"/>
              </a:rPr>
              <a:t>NEXT · 60 DAYS · 次の60日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538728"/>
            <a:ext cx="50292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3931920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Sharper background engine — new perspectives, richer scenes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背景エンジンの精度と視点を一段引き上げる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709160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Onboard new paying customers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新規有償顧客のオンボーディング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5486400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5394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Document ComfyUI pipeline; assign a backup engineer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760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ComfyUIパイプラインの文書化と予備担当の任命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進捗 · APPAREL   ·   NOW &amp; NEXT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07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体制 · 其ノ壱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APPAREL · 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The Apparel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A small dedicated pair, focused on the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アパレルを支える、二人組。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3200400"/>
            <a:ext cx="4572000" cy="2468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67" y="3200400"/>
            <a:ext cx="4572000" cy="28575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5687" y="34290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600" b="1" i="0">
                <a:solidFill>
                  <a:srgbClr val="B15030"/>
                </a:solidFill>
                <a:latin typeface="Sitka Banner"/>
                <a:ea typeface="Yu Mincho"/>
              </a:rPr>
              <a:t>基盤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727" y="34747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727" y="4069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254872"/>
                </a:solidFill>
                <a:latin typeface="Sitka Banner"/>
                <a:ea typeface="Yu Mincho"/>
              </a:rPr>
              <a:t>Backend &amp; ComfyUI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727" y="43891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29046"/>
                </a:solidFill>
                <a:latin typeface="Sitka Banner"/>
                <a:ea typeface="Yu Mincho"/>
              </a:rPr>
              <a:t>≈ 16 h / week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06727" y="4892040"/>
            <a:ext cx="457200" cy="1524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06727" y="50292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51211"/>
                </a:solidFill>
                <a:latin typeface="Sitka Banner"/>
                <a:ea typeface="Yu Mincho"/>
              </a:rPr>
              <a:t>Splits time with Blueprint backend (16 h there).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6727" y="5321808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50">
                <a:solidFill>
                  <a:srgbClr val="3A3530"/>
                </a:solidFill>
                <a:latin typeface="Corbel"/>
                <a:ea typeface="Yu Gothic UI"/>
              </a:rPr>
              <a:t>ブループリント側にも16時間を担当。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8727" y="3200400"/>
            <a:ext cx="4572000" cy="2468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3200400"/>
            <a:ext cx="4572000" cy="28575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3447" y="34290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600" b="1" i="0">
                <a:solidFill>
                  <a:srgbClr val="B15030"/>
                </a:solidFill>
                <a:latin typeface="Sitka Banner"/>
                <a:ea typeface="Yu Mincho"/>
              </a:rPr>
              <a:t>表層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34747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4487" y="4069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254872"/>
                </a:solidFill>
                <a:latin typeface="Sitka Banner"/>
                <a:ea typeface="Yu Mincho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4487" y="43891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29046"/>
                </a:solidFill>
                <a:latin typeface="Sitka Banner"/>
                <a:ea typeface="Yu Mincho"/>
              </a:rPr>
              <a:t>≈ 8 h / week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44487" y="4892040"/>
            <a:ext cx="457200" cy="1524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4487" y="50292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51211"/>
                </a:solidFill>
                <a:latin typeface="Sitka Banner"/>
                <a:ea typeface="Yu Mincho"/>
              </a:rPr>
              <a:t>Splits time with Blueprint frontend (32 h there).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4487" y="5321808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50">
                <a:solidFill>
                  <a:srgbClr val="3A3530"/>
                </a:solidFill>
                <a:latin typeface="Corbel"/>
                <a:ea typeface="Yu Gothic UI"/>
              </a:rPr>
              <a:t>ブループリント側に32時間、こちらは8時間。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94360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4872"/>
                </a:solidFill>
                <a:latin typeface="Sitka Banner"/>
                <a:ea typeface="Yu Mincho"/>
              </a:rPr>
              <a:t>2 contributors  ·  24 hrs / week on Apparel  ·  Both also support Blueprint — flexible cross-product team.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アパレル側は2名・24時間/週。両者ともブループリントにも従事し、柔軟に横断。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体制 · APPAREL   ·   THE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08 / 17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44658C"/>
                </a:solidFill>
                <a:latin typeface="Corbel"/>
                <a:ea typeface="Yu Gothic UI"/>
              </a:rPr>
              <a:t>其ノ弐   ·  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4EEE3"/>
                </a:solidFill>
                <a:latin typeface="Sitka Banner"/>
                <a:ea typeface="Yu Mincho"/>
              </a:rPr>
              <a:t>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D5CAB4"/>
                </a:solidFill>
                <a:latin typeface="Sitka Banner"/>
                <a:ea typeface="Yu Mincho"/>
              </a:rPr>
              <a:t>Upload a blueprint.  Get instant analysis, parts list, and inspection.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D5CAB4"/>
                </a:solidFill>
                <a:latin typeface="Corbel"/>
                <a:ea typeface="Yu Gothic UI"/>
              </a:rPr>
              <a:t>図面を投げ込むだけで、解析・部品表・検査が返ってくる。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4EEE3"/>
                </a:solidFill>
                <a:latin typeface="Sitka Banner"/>
                <a:ea typeface="Yu Mincho"/>
              </a:rPr>
              <a:t>An engineer drops a technical drawing into Blueprint.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4EEE3"/>
                </a:solidFill>
                <a:latin typeface="Sitka Banner"/>
                <a:ea typeface="Yu Mincho"/>
              </a:rPr>
              <a:t>Minutes later, three answers come back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4EEE3"/>
                </a:solidFill>
                <a:latin typeface="Sitka Banner"/>
                <a:ea typeface="Yu Mincho"/>
              </a:rPr>
              <a:t>the parts list, already tabled.  The errors, circled with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578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The text, searchable as any document.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D5CAB4"/>
                </a:solidFill>
                <a:latin typeface="Corbel"/>
                <a:ea typeface="Yu Gothic UI"/>
              </a:rPr>
              <a:t>其ノ弐 · BLUEPRINT   ·   PRODUCT TWO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D5CAB4"/>
                </a:solidFill>
                <a:latin typeface="Corbel"/>
                <a:ea typeface="Yu Gothic UI"/>
              </a:rPr>
              <a:t>09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動作中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BLUEPRINT · AT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51211"/>
                </a:solidFill>
                <a:latin typeface="Sitka Banner"/>
                <a:ea typeface="Yu Mincho"/>
              </a:rPr>
              <a:t>Blueprint, at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From the entry page to the parts list it extracts from a drawing.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入口から、図面より抽出される構造化された部品表まで。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739128" y="2770632"/>
            <a:ext cx="4572000" cy="1956816"/>
          </a:xfrm>
          <a:prstGeom prst="rect">
            <a:avLst/>
          </a:prstGeom>
          <a:solidFill>
            <a:srgbClr val="BEB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697480"/>
            <a:ext cx="457200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5256" y="3529584"/>
            <a:ext cx="6400800" cy="2739542"/>
          </a:xfrm>
          <a:prstGeom prst="rect">
            <a:avLst/>
          </a:prstGeom>
          <a:solidFill>
            <a:srgbClr val="8F8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6400800" cy="27395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動作中   ·   BLUEPRINT · AT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10 / 17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進捗 · 其ノ弐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BLUEPRINT · NOW &amp;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Blueprint — now and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What's running, what's coming, who's doing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今、進めていること。次に取り掛かること。担うのは誰か。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898378"/>
                </a:solidFill>
                <a:latin typeface="Corbel"/>
                <a:ea typeface="Yu Gothic UI"/>
              </a:rPr>
              <a:t>NOW · 進行中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38728"/>
            <a:ext cx="502920" cy="19050"/>
          </a:xfrm>
          <a:prstGeom prst="rect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93192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BP Check · BOM · Scan running in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BP Check / BOM / Scan が本番稼働中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70916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GPU / workflow decoupling — active rework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GPU・ワークフロー分離の改修中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48640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394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Continuous testing +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760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継続的なテストと監視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626364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6172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Per-tenant configuration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537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テナント別設定への対応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5468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54872"/>
                </a:solidFill>
                <a:latin typeface="Corbel"/>
                <a:ea typeface="Yu Gothic UI"/>
              </a:rPr>
              <a:t>NEXT · 60 DAYS · 次の60日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538728"/>
            <a:ext cx="502920" cy="1905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3931920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New workflows tailored for specific organisations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特定組織向けの新ワークフロー追加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709160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Stabilise + harden recently shipped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新規機能の安定化と強化検証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5486400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5394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BP Check / BOM to first billed engineering teams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760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BP Check・BOMを初の有償運用へ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進捗 · BLUEPRINT   ·   NOW &amp; NEXT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11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体制 · 其ノ弐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BLUEPRINT · 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The Blueprint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Six contributors carrying the engine — four dedicated, two shared.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ブループリントを支える六人 — 専属四名、横断二名。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63240"/>
            <a:ext cx="3419856" cy="1325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063240"/>
            <a:ext cx="3419856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2783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Aita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31821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30168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Backend &amp; Engine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941064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9046"/>
                </a:solidFill>
                <a:latin typeface="Sitka Banner"/>
                <a:ea typeface="Yu Mincho"/>
              </a:rPr>
              <a:t>32 h / week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3063240"/>
            <a:ext cx="3419856" cy="1325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6" y="3063240"/>
            <a:ext cx="3419856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322783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Lauben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31821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土台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3630168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3941064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9046"/>
                </a:solidFill>
                <a:latin typeface="Sitka Banner"/>
                <a:ea typeface="Yu Mincho"/>
              </a:rPr>
              <a:t>40 h / week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36992" y="3063240"/>
            <a:ext cx="3419856" cy="1325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36992" y="3063240"/>
            <a:ext cx="3419856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322783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Otai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16768" y="31821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補佐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3630168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Backend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3941064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9046"/>
                </a:solidFill>
                <a:latin typeface="Sitka Banner"/>
                <a:ea typeface="Yu Mincho"/>
              </a:rPr>
              <a:t>32 h / week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553712"/>
            <a:ext cx="3419856" cy="1325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4553712"/>
            <a:ext cx="3419856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471830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Ambrose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2736" y="4672584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統率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5120640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Systems &amp; Product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5431536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9046"/>
                </a:solidFill>
                <a:latin typeface="Sitka Banner"/>
                <a:ea typeface="Yu Mincho"/>
              </a:rPr>
              <a:t>16 h / week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79976" y="4553712"/>
            <a:ext cx="3419856" cy="1325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79976" y="4553712"/>
            <a:ext cx="3419856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008" y="471830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9752" y="4672584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基盤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6008" y="5120640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Backend &amp; ComfyUI  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6008" y="5431536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9046"/>
                </a:solidFill>
                <a:latin typeface="Sitka Banner"/>
                <a:ea typeface="Yu Mincho"/>
              </a:rPr>
              <a:t>16 h / week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36992" y="4553712"/>
            <a:ext cx="3419856" cy="1325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36992" y="4553712"/>
            <a:ext cx="3419856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93024" y="471830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16768" y="4672584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表層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3024" y="5120640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Frontend  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5431536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9046"/>
                </a:solidFill>
                <a:latin typeface="Sitka Banner"/>
                <a:ea typeface="Yu Mincho"/>
              </a:rPr>
              <a:t>32 h / week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*  Muzuva and Crispus also contribute to Apparel  ·  Apparelとも兼務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6199632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2910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4872"/>
                </a:solidFill>
                <a:latin typeface="Sitka Banner"/>
                <a:ea typeface="Yu Mincho"/>
              </a:rPr>
              <a:t>6 contributors  ·  168 hrs / week  ·  Hold; +1 backend if client workflows scale.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体制 · BLUEPRINT   ·   THE TEAM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12 / 17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WHAT WE'VE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1211"/>
                </a:solidFill>
                <a:latin typeface="Sitka Banner"/>
                <a:ea typeface="Yu Mincho"/>
              </a:rPr>
              <a:t>Three lessons the quarter pressed into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530"/>
                </a:solidFill>
                <a:latin typeface="Corbel"/>
                <a:ea typeface="Yu Gothic UI"/>
              </a:rPr>
              <a:t>今期、現場が教えてくれた三つのこと。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15030"/>
                </a:solidFill>
                <a:latin typeface="Sitka Banner"/>
                <a:ea typeface="Yu Mincho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9718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54872"/>
                </a:solidFill>
                <a:latin typeface="Sitka Banner"/>
                <a:ea typeface="Yu Mincho"/>
              </a:rPr>
              <a:t>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15030"/>
                </a:solidFill>
                <a:latin typeface="Corbel"/>
                <a:ea typeface="Yu Gothic UI"/>
              </a:rPr>
              <a:t>責任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9008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A process only one person can run is a risk the whole team carries.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530"/>
                </a:solidFill>
                <a:latin typeface="Sitka Banner"/>
                <a:ea typeface="Yu Mincho"/>
              </a:rPr>
              <a:t>This quarter we retired two single-person dependencies by documenting them out loud.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1304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一人しか動かせない工程は、チーム全体のリスクでした。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2336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33088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15030"/>
                </a:solidFill>
                <a:latin typeface="Sitka Banner"/>
                <a:ea typeface="Yu Mincho"/>
              </a:rPr>
              <a:t>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08736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54872"/>
                </a:solidFill>
                <a:latin typeface="Sitka Banner"/>
                <a:ea typeface="Yu Mincho"/>
              </a:rPr>
              <a:t>Listening to the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54456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15030"/>
                </a:solidFill>
                <a:latin typeface="Corbel"/>
                <a:ea typeface="Yu Gothic UI"/>
              </a:rPr>
              <a:t>顧客の声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05656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Customers find the problems our tests and monitors cannot.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544568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530"/>
                </a:solidFill>
                <a:latin typeface="Sitka Banner"/>
                <a:ea typeface="Yu Mincho"/>
              </a:rPr>
              <a:t>Our best fixes this quarter came from support tickets, not from dashboards.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928616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最良の修正は、監視画面ではなく顧客の声から生まれました。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138928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48656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15030"/>
                </a:solidFill>
                <a:latin typeface="Sitka Banner"/>
                <a:ea typeface="Yu Mincho"/>
              </a:rPr>
              <a:t>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202936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54872"/>
                </a:solidFill>
                <a:latin typeface="Sitka Banner"/>
                <a:ea typeface="Yu Mincho"/>
              </a:rPr>
              <a:t>Documentation is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66013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15030"/>
                </a:solidFill>
                <a:latin typeface="Corbel"/>
                <a:ea typeface="Yu Gothic UI"/>
              </a:rPr>
              <a:t>文書化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221224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Docs ship with the code, or they never ship at 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660136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530"/>
                </a:solidFill>
                <a:latin typeface="Sitka Banner"/>
                <a:ea typeface="Yu Mincho"/>
              </a:rPr>
              <a:t>Every shortcut we took on documentation became next sprint's delay.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044184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省いた文書は、次のスプリントの遅延になりました。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学び   ·   WHAT WE'VE LEARNED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13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IN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In Brief.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Four figures that map this quarter — the journey in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四つの数字でたどる、今期の歩み。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4434840"/>
            <a:ext cx="8686800" cy="9525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4370832"/>
            <a:ext cx="91440" cy="1371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4370832"/>
            <a:ext cx="91440" cy="1371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4370832"/>
            <a:ext cx="91440" cy="1371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63039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1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54872"/>
                </a:solidFill>
                <a:latin typeface="Sitka Banner"/>
                <a:ea typeface="Yu Minch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7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products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7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in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7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本番稼働中</a:t>
            </a:r>
          </a:p>
        </p:txBody>
      </p:sp>
      <p:sp>
        <p:nvSpPr>
          <p:cNvPr id="19" name="Oval 18"/>
          <p:cNvSpPr/>
          <p:nvPr/>
        </p:nvSpPr>
        <p:spPr>
          <a:xfrm>
            <a:off x="4114799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54872"/>
                </a:solidFill>
                <a:latin typeface="Sitka Banner"/>
                <a:ea typeface="Yu Mincho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3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one end-to-end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3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一つのチーム</a:t>
            </a:r>
          </a:p>
        </p:txBody>
      </p:sp>
      <p:sp>
        <p:nvSpPr>
          <p:cNvPr id="25" name="Oval 24"/>
          <p:cNvSpPr/>
          <p:nvPr/>
        </p:nvSpPr>
        <p:spPr>
          <a:xfrm>
            <a:off x="6766559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54872"/>
                </a:solidFill>
                <a:latin typeface="Sitka Banner"/>
                <a:ea typeface="Yu Mincho"/>
              </a:rPr>
              <a:t>1 → 100+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one product photo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becomes a full campaign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一枚から百枚超へ</a:t>
            </a:r>
          </a:p>
        </p:txBody>
      </p:sp>
      <p:sp>
        <p:nvSpPr>
          <p:cNvPr id="31" name="Oval 30"/>
          <p:cNvSpPr/>
          <p:nvPr/>
        </p:nvSpPr>
        <p:spPr>
          <a:xfrm>
            <a:off x="9418320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54872"/>
                </a:solidFill>
                <a:latin typeface="Sitka Banner"/>
                <a:ea typeface="Yu Mincho"/>
              </a:rPr>
              <a:t>hrs →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blueprint reviews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hours down to minutes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数時間から数分へ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898378"/>
                </a:solidFill>
                <a:latin typeface="Corbel"/>
                <a:ea typeface="Yu Gothic UI"/>
              </a:rPr>
              <a:t>Figures directional for this note; final numbers confirmed at quarter-end.   数字は目安、四半期締めに確定。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概要   ·   IN BRIEF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14 / 17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THE TEAM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1211"/>
                </a:solidFill>
                <a:latin typeface="Sitka Banner"/>
                <a:ea typeface="Yu Mincho"/>
              </a:rPr>
              <a:t>Six people, two products, two crossing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Where the team currently sits — and where capacity could shift.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二つのプロダクトと、それを横断する二人。現状と今後の調整余地。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B15030"/>
                </a:solidFill>
                <a:latin typeface="Corbel"/>
                <a:ea typeface="Yu Gothic UI"/>
              </a:rPr>
              <a:t>APPAREL  ·  2 人  ·  24 hrs / week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66160"/>
            <a:ext cx="54864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913632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221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822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Backend &amp; ComfyUI Lead 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82219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16h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325112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3367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2336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Frontend 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2336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8h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254872"/>
                </a:solidFill>
                <a:latin typeface="Corbel"/>
                <a:ea typeface="Yu Gothic UI"/>
              </a:rPr>
              <a:t>BLUEPRINT  ·  6 人  ·  168 hrs / week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566160"/>
            <a:ext cx="548640" cy="1905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09360" y="3913632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8221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Aita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822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Backend &amp; Engine Lead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382219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32h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4325112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23367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Lauben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2336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42336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40h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4736592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64515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Otai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64515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Backend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464515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32h</a:t>
            </a:r>
          </a:p>
        </p:txBody>
      </p:sp>
      <p:sp>
        <p:nvSpPr>
          <p:cNvPr id="33" name="Oval 32"/>
          <p:cNvSpPr/>
          <p:nvPr/>
        </p:nvSpPr>
        <p:spPr>
          <a:xfrm>
            <a:off x="6309360" y="5148072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05663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Ambrose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0566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Systems &amp; Product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05663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16h</a:t>
            </a:r>
          </a:p>
        </p:txBody>
      </p:sp>
      <p:sp>
        <p:nvSpPr>
          <p:cNvPr id="37" name="Oval 36"/>
          <p:cNvSpPr/>
          <p:nvPr/>
        </p:nvSpPr>
        <p:spPr>
          <a:xfrm>
            <a:off x="6309360" y="5559552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546811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4681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Frontend *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46811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32h</a:t>
            </a:r>
          </a:p>
        </p:txBody>
      </p:sp>
      <p:sp>
        <p:nvSpPr>
          <p:cNvPr id="41" name="Oval 40"/>
          <p:cNvSpPr/>
          <p:nvPr/>
        </p:nvSpPr>
        <p:spPr>
          <a:xfrm>
            <a:off x="6309360" y="5971032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58795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8795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Backend &amp; ComfyUI 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587959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16h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6509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*  Muzuva and Crispus split time across both products.   Unique headcount: 6.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594360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4872"/>
                </a:solidFill>
                <a:latin typeface="Sitka Banner"/>
                <a:ea typeface="Yu Mincho"/>
              </a:rPr>
              <a:t>Open question  ·  Where does Japan-side capacity best slot in over the next 60 days?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今後60日、日本側のリソースをどこに配置するのが最善か。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配置   ·   TEAM PICTURE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15 / 17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4EEE3"/>
                </a:solidFill>
                <a:latin typeface="Corbel"/>
                <a:ea typeface="Yu Gothic UI"/>
              </a:rPr>
              <a:t>これから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F4EEE3"/>
                </a:solidFill>
                <a:latin typeface="Corbel"/>
                <a:ea typeface="Yu Gothic UI"/>
              </a:rPr>
              <a:t>THE NEXT 60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4EEE3"/>
                </a:solidFill>
                <a:latin typeface="Sitka Banner"/>
                <a:ea typeface="Yu Mincho"/>
              </a:rPr>
              <a:t>Three concrete moves in the next 60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D5CAB4"/>
                </a:solidFill>
                <a:latin typeface="Corbel"/>
                <a:ea typeface="Yu Gothic UI"/>
              </a:rPr>
              <a:t>今後60日間で、確実に進める三手。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Apparel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06324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EEE3"/>
                </a:solidFill>
                <a:latin typeface="Sitka Banner"/>
                <a:ea typeface="Yu Mincho"/>
              </a:rPr>
              <a:t>Users are already on board.  We sharpen the background engine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4290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5CAB4"/>
                </a:solidFill>
                <a:latin typeface="Sitka Banner"/>
                <a:ea typeface="Yu Mincho"/>
              </a:rPr>
              <a:t>new perspectives, richer scenes, a visibly better experience.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404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D5CAB4"/>
                </a:solidFill>
                <a:latin typeface="Corbel"/>
                <a:ea typeface="Yu Gothic UI"/>
              </a:rPr>
              <a:t>背景生成の精度と構図を引き上げ、体験をもう一段高めます。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14800"/>
            <a:ext cx="1115568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Blueprint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1148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EEE3"/>
                </a:solidFill>
                <a:latin typeface="Sitka Banner"/>
                <a:ea typeface="Yu Mincho"/>
              </a:rPr>
              <a:t>New workflows tailored for specific organisations.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5CAB4"/>
                </a:solidFill>
                <a:latin typeface="Sitka Banner"/>
                <a:ea typeface="Yu Mincho"/>
              </a:rPr>
              <a:t>Stabilise, test, and harden what's already shipped.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8920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D5CAB4"/>
                </a:solidFill>
                <a:latin typeface="Corbel"/>
                <a:ea typeface="Yu Gothic UI"/>
              </a:rPr>
              <a:t>特定組織向けの新ワークフロー追加と、既存機能の安定化・検証。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66360"/>
            <a:ext cx="1115568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The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1663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EEE3"/>
                </a:solidFill>
                <a:latin typeface="Sitka Banner"/>
                <a:ea typeface="Yu Mincho"/>
              </a:rPr>
              <a:t>Close the last single-person dependencies.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53212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5CAB4"/>
                </a:solidFill>
                <a:latin typeface="Sitka Banner"/>
                <a:ea typeface="Yu Mincho"/>
              </a:rPr>
              <a:t>Turn the learnings from both products into shared team playbooks.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94360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D5CAB4"/>
                </a:solidFill>
                <a:latin typeface="Corbel"/>
                <a:ea typeface="Yu Gothic UI"/>
              </a:rPr>
              <a:t>単独依存を解消し、両プロダクトの学びをチームの手引きに。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17920"/>
            <a:ext cx="1115568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D5CAB4"/>
                </a:solidFill>
                <a:latin typeface="Corbel"/>
                <a:ea typeface="Yu Gothic UI"/>
              </a:rPr>
              <a:t>これから   ·   THE NEXT 60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D5CAB4"/>
                </a:solidFill>
                <a:latin typeface="Corbel"/>
                <a:ea typeface="Yu Gothic UI"/>
              </a:rPr>
              <a:t>16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お伺い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ONE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51211"/>
                </a:solidFill>
                <a:latin typeface="Sitka Banner"/>
                <a:ea typeface="Yu Mincho"/>
              </a:rPr>
              <a:t>Which of the two would you like us to open next?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 spc="100">
                <a:solidFill>
                  <a:srgbClr val="3A3530"/>
                </a:solidFill>
                <a:latin typeface="Corbel"/>
                <a:ea typeface="Yu Gothic UI"/>
              </a:rPr>
              <a:t>どちらの作品を、次にご覧になりたいですか。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We'd be glad to walk the team deeper into whichever one interests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3886200"/>
            <a:ext cx="4572000" cy="214884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67" y="3886200"/>
            <a:ext cx="4572000" cy="228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672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15030"/>
                </a:solidFill>
                <a:latin typeface="Corbel"/>
                <a:ea typeface="Yu Gothic UI"/>
              </a:rPr>
              <a:t>其ノ壱   ·   APPAREL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72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Apparel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72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One product photo, a full campaign.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72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一枚の写真が、キャンペーンに。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3886200"/>
            <a:ext cx="4572000" cy="214884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3886200"/>
            <a:ext cx="4572000" cy="2286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448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54872"/>
                </a:solidFill>
                <a:latin typeface="Corbel"/>
                <a:ea typeface="Yu Gothic UI"/>
              </a:rPr>
              <a:t>其ノ弐   ·   BLUEPRINT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Blueprint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One blueprint, a parts list and inspection.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一枚の図面が、部品表と検査に。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18520" y="5715000"/>
            <a:ext cx="640080" cy="640080"/>
          </a:xfrm>
          <a:prstGeom prst="rect">
            <a:avLst/>
          </a:prstGeom>
          <a:solidFill>
            <a:srgbClr val="B15030"/>
          </a:solidFill>
          <a:ln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5715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4EEE3"/>
                </a:solidFill>
                <a:latin typeface="Sitka Banner"/>
                <a:ea typeface="Yu Mincho"/>
              </a:rPr>
              <a:t>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898378"/>
                </a:solidFill>
                <a:latin typeface="Corbel"/>
                <a:ea typeface="Yu Gothic UI"/>
              </a:rPr>
              <a:t>alanda.ambrose@aibos.co.jp   ·   Create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17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