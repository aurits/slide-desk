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254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54872"/>
                </a:solidFill>
                <a:latin typeface="Corbel"/>
                <a:ea typeface="Yu Gothic UI"/>
              </a:rPr>
              <a:t>AIBOS   ·   CREATE PROJECT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051560"/>
            <a:ext cx="640080" cy="19050"/>
          </a:xfrm>
          <a:prstGeom prst="rect">
            <a:avLst/>
          </a:prstGeom>
          <a:solidFill>
            <a:srgbClr val="B1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5156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0" i="1">
                <a:solidFill>
                  <a:srgbClr val="254872"/>
                </a:solidFill>
                <a:latin typeface="Sitka Banner"/>
                <a:ea typeface="Yu Mincho"/>
              </a:rPr>
              <a:t>A Note from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60320"/>
            <a:ext cx="105156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00" b="1" i="0">
                <a:solidFill>
                  <a:srgbClr val="151211"/>
                </a:solidFill>
                <a:latin typeface="Sitka Banner"/>
                <a:ea typeface="Yu Mincho"/>
              </a:rPr>
              <a:t>Create Project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4480560"/>
            <a:ext cx="640080" cy="19050"/>
          </a:xfrm>
          <a:prstGeom prst="rect">
            <a:avLst/>
          </a:prstGeom>
          <a:solidFill>
            <a:srgbClr val="B1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6177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1">
                <a:solidFill>
                  <a:srgbClr val="3A3530"/>
                </a:solidFill>
                <a:latin typeface="Sitka Banner"/>
                <a:ea typeface="Yu Mincho"/>
              </a:rPr>
              <a:t>Two products, a team of seven, and the quarter behind them.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0749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 spc="100">
                <a:solidFill>
                  <a:srgbClr val="3A3530"/>
                </a:solidFill>
                <a:latin typeface="Corbel"/>
                <a:ea typeface="Yu Gothic UI"/>
              </a:rPr>
              <a:t>二つのプロダクト、七人のチーム、そしてこの四半期の歩み。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7607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 spc="200">
                <a:solidFill>
                  <a:srgbClr val="254872"/>
                </a:solidFill>
                <a:latin typeface="Corbel"/>
                <a:ea typeface="Yu Gothic UI"/>
              </a:rPr>
              <a:t>クリエイト・プロジェクト便り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6217920"/>
            <a:ext cx="10424160" cy="6350"/>
          </a:xfrm>
          <a:prstGeom prst="rect">
            <a:avLst/>
          </a:prstGeom>
          <a:solidFill>
            <a:srgbClr val="D5C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63093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300">
                <a:solidFill>
                  <a:srgbClr val="3A3530"/>
                </a:solidFill>
                <a:latin typeface="Corbel"/>
                <a:ea typeface="Yu Gothic UI"/>
              </a:rPr>
              <a:t>Q2 · 2026年春   ·   Spring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630936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 spc="500">
                <a:solidFill>
                  <a:srgbClr val="3A3530"/>
                </a:solidFill>
                <a:latin typeface="Corbel"/>
                <a:ea typeface="Yu Gothic UI"/>
              </a:rPr>
              <a:t>FOR THE BOARD   ·   取締役会用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607040" y="1554480"/>
            <a:ext cx="868680" cy="868680"/>
          </a:xfrm>
          <a:prstGeom prst="rect">
            <a:avLst/>
          </a:prstGeom>
          <a:solidFill>
            <a:srgbClr val="B15030"/>
          </a:solidFill>
          <a:ln>
            <a:solidFill>
              <a:srgbClr val="B15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07040" y="1554480"/>
            <a:ext cx="8686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400" b="1" i="0">
                <a:solidFill>
                  <a:srgbClr val="F4EEE3"/>
                </a:solidFill>
                <a:latin typeface="Sitka Banner"/>
                <a:ea typeface="Yu Mincho"/>
              </a:rPr>
              <a:t>創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B15030"/>
                </a:solidFill>
                <a:latin typeface="Corbel"/>
                <a:ea typeface="Yu Gothic UI"/>
              </a:rPr>
              <a:t>ご挨拶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0">
                <a:solidFill>
                  <a:srgbClr val="B15030"/>
                </a:solidFill>
                <a:latin typeface="Corbel"/>
                <a:ea typeface="Yu Gothic UI"/>
              </a:rPr>
              <a:t>A NOTE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25880"/>
            <a:ext cx="10515600" cy="6350"/>
          </a:xfrm>
          <a:prstGeom prst="rect">
            <a:avLst/>
          </a:prstGeom>
          <a:solidFill>
            <a:srgbClr val="D5C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37744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0" i="1">
                <a:solidFill>
                  <a:srgbClr val="151211"/>
                </a:solidFill>
                <a:latin typeface="Sitka Banner"/>
                <a:ea typeface="Yu Mincho"/>
              </a:rPr>
              <a:t>A short note from Create Project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10896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0" i="1">
                <a:solidFill>
                  <a:srgbClr val="151211"/>
                </a:solidFill>
                <a:latin typeface="Sitka Banner"/>
                <a:ea typeface="Yu Mincho"/>
              </a:rPr>
              <a:t>on what the team has been building this quarter,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02336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254872"/>
                </a:solidFill>
                <a:latin typeface="Sitka Banner"/>
                <a:ea typeface="Yu Mincho"/>
              </a:rPr>
              <a:t>and where it is going next.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5303520"/>
            <a:ext cx="731520" cy="19050"/>
          </a:xfrm>
          <a:prstGeom prst="rect">
            <a:avLst/>
          </a:prstGeom>
          <a:solidFill>
            <a:srgbClr val="B1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553212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 spc="100">
                <a:solidFill>
                  <a:srgbClr val="3A3530"/>
                </a:solidFill>
                <a:latin typeface="Corbel"/>
                <a:ea typeface="Yu Gothic UI"/>
              </a:rPr>
              <a:t>今期に作ってきたもの、そしてこれからの行き先について、一筆。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898378"/>
                </a:solidFill>
                <a:latin typeface="Corbel"/>
                <a:ea typeface="Yu Gothic UI"/>
              </a:rPr>
              <a:t>ご挨拶   ·   A NOTE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898378"/>
                </a:solidFill>
                <a:latin typeface="Corbel"/>
                <a:ea typeface="Yu Gothic UI"/>
              </a:rPr>
              <a:t>02 / 17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B15030"/>
                </a:solidFill>
                <a:latin typeface="Corbel"/>
                <a:ea typeface="Yu Gothic UI"/>
              </a:rPr>
              <a:t>仲間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0">
                <a:solidFill>
                  <a:srgbClr val="B15030"/>
                </a:solidFill>
                <a:latin typeface="Corbel"/>
                <a:ea typeface="Yu Gothic UI"/>
              </a:rPr>
              <a:t>THE TEAM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25880"/>
            <a:ext cx="10515600" cy="6350"/>
          </a:xfrm>
          <a:prstGeom prst="rect">
            <a:avLst/>
          </a:prstGeom>
          <a:solidFill>
            <a:srgbClr val="D5C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151211"/>
                </a:solidFill>
                <a:latin typeface="Sitka Banner"/>
                <a:ea typeface="Yu Mincho"/>
              </a:rPr>
              <a:t>Six makers.  Two products.  One team.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6888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151211"/>
                </a:solidFill>
                <a:latin typeface="Sitka Banner"/>
                <a:ea typeface="Yu Mincho"/>
              </a:rPr>
              <a:t>Every strength is known — every role assigned accordingly.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346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 spc="100">
                <a:solidFill>
                  <a:srgbClr val="3A3530"/>
                </a:solidFill>
                <a:latin typeface="Corbel"/>
                <a:ea typeface="Yu Gothic UI"/>
              </a:rPr>
              <a:t>一人ひとりの強みを把握し、役割を的確に振り分けています。</a:t>
            </a:r>
          </a:p>
        </p:txBody>
      </p:sp>
      <p:sp>
        <p:nvSpPr>
          <p:cNvPr id="9" name="Oval 8"/>
          <p:cNvSpPr/>
          <p:nvPr/>
        </p:nvSpPr>
        <p:spPr>
          <a:xfrm>
            <a:off x="2286000" y="3703320"/>
            <a:ext cx="237744" cy="237744"/>
          </a:xfrm>
          <a:prstGeom prst="ellipse">
            <a:avLst/>
          </a:prstGeom>
          <a:solidFill>
            <a:srgbClr val="B1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2461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 spc="300">
                <a:solidFill>
                  <a:srgbClr val="254872"/>
                </a:solidFill>
                <a:latin typeface="Corbel"/>
                <a:ea typeface="Yu Gothic UI"/>
              </a:rPr>
              <a:t>統率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99592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151211"/>
                </a:solidFill>
                <a:latin typeface="Sitka Banner"/>
                <a:ea typeface="Yu Mincho"/>
              </a:rPr>
              <a:t>Ambrose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34340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3A3530"/>
                </a:solidFill>
                <a:latin typeface="Corbel"/>
                <a:ea typeface="Yu Gothic UI"/>
              </a:rPr>
              <a:t>Systems &amp; Product</a:t>
            </a:r>
          </a:p>
        </p:txBody>
      </p:sp>
      <p:sp>
        <p:nvSpPr>
          <p:cNvPr id="13" name="Oval 12"/>
          <p:cNvSpPr/>
          <p:nvPr/>
        </p:nvSpPr>
        <p:spPr>
          <a:xfrm>
            <a:off x="6099048" y="3703320"/>
            <a:ext cx="237744" cy="237744"/>
          </a:xfrm>
          <a:prstGeom prst="ellipse">
            <a:avLst/>
          </a:prstGeom>
          <a:solidFill>
            <a:srgbClr val="B1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18888" y="32461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 spc="300">
                <a:solidFill>
                  <a:srgbClr val="254872"/>
                </a:solidFill>
                <a:latin typeface="Corbel"/>
                <a:ea typeface="Yu Gothic UI"/>
              </a:rPr>
              <a:t>設計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18888" y="399592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151211"/>
                </a:solidFill>
                <a:latin typeface="Sitka Banner"/>
                <a:ea typeface="Yu Mincho"/>
              </a:rPr>
              <a:t>Aita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6008" y="434340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3A3530"/>
                </a:solidFill>
                <a:latin typeface="Corbel"/>
                <a:ea typeface="Yu Gothic UI"/>
              </a:rPr>
              <a:t>Workflow Engine</a:t>
            </a:r>
          </a:p>
        </p:txBody>
      </p:sp>
      <p:sp>
        <p:nvSpPr>
          <p:cNvPr id="17" name="Oval 16"/>
          <p:cNvSpPr/>
          <p:nvPr/>
        </p:nvSpPr>
        <p:spPr>
          <a:xfrm>
            <a:off x="9912096" y="3703320"/>
            <a:ext cx="237744" cy="237744"/>
          </a:xfrm>
          <a:prstGeom prst="ellipse">
            <a:avLst/>
          </a:prstGeom>
          <a:solidFill>
            <a:srgbClr val="B1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31936" y="32461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 spc="300">
                <a:solidFill>
                  <a:srgbClr val="254872"/>
                </a:solidFill>
                <a:latin typeface="Corbel"/>
                <a:ea typeface="Yu Gothic UI"/>
              </a:rPr>
              <a:t>基盤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31936" y="399592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151211"/>
                </a:solidFill>
                <a:latin typeface="Sitka Banner"/>
                <a:ea typeface="Yu Mincho"/>
              </a:rPr>
              <a:t>Muzuva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49056" y="434340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3A3530"/>
                </a:solidFill>
                <a:latin typeface="Corbel"/>
                <a:ea typeface="Yu Gothic UI"/>
              </a:rPr>
              <a:t>Backend &amp; Pipeline</a:t>
            </a:r>
          </a:p>
        </p:txBody>
      </p:sp>
      <p:sp>
        <p:nvSpPr>
          <p:cNvPr id="21" name="Oval 20"/>
          <p:cNvSpPr/>
          <p:nvPr/>
        </p:nvSpPr>
        <p:spPr>
          <a:xfrm>
            <a:off x="2286000" y="5166360"/>
            <a:ext cx="237744" cy="237744"/>
          </a:xfrm>
          <a:prstGeom prst="ellipse">
            <a:avLst/>
          </a:prstGeom>
          <a:solidFill>
            <a:srgbClr val="B1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470916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 spc="300">
                <a:solidFill>
                  <a:srgbClr val="254872"/>
                </a:solidFill>
                <a:latin typeface="Corbel"/>
                <a:ea typeface="Yu Gothic UI"/>
              </a:rPr>
              <a:t>土台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45896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151211"/>
                </a:solidFill>
                <a:latin typeface="Sitka Banner"/>
                <a:ea typeface="Yu Mincho"/>
              </a:rPr>
              <a:t>Lauben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80644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3A3530"/>
                </a:solidFill>
                <a:latin typeface="Corbel"/>
                <a:ea typeface="Yu Gothic UI"/>
              </a:rPr>
              <a:t>Infrastructure</a:t>
            </a:r>
          </a:p>
        </p:txBody>
      </p:sp>
      <p:sp>
        <p:nvSpPr>
          <p:cNvPr id="25" name="Oval 24"/>
          <p:cNvSpPr/>
          <p:nvPr/>
        </p:nvSpPr>
        <p:spPr>
          <a:xfrm>
            <a:off x="6099048" y="5166360"/>
            <a:ext cx="237744" cy="237744"/>
          </a:xfrm>
          <a:prstGeom prst="ellipse">
            <a:avLst/>
          </a:prstGeom>
          <a:solidFill>
            <a:srgbClr val="B1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18888" y="470916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 spc="300">
                <a:solidFill>
                  <a:srgbClr val="254872"/>
                </a:solidFill>
                <a:latin typeface="Corbel"/>
                <a:ea typeface="Yu Gothic UI"/>
              </a:rPr>
              <a:t>表層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18888" y="545896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151211"/>
                </a:solidFill>
                <a:latin typeface="Sitka Banner"/>
                <a:ea typeface="Yu Mincho"/>
              </a:rPr>
              <a:t>Crispus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36008" y="580644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3A3530"/>
                </a:solidFill>
                <a:latin typeface="Corbel"/>
                <a:ea typeface="Yu Gothic UI"/>
              </a:rPr>
              <a:t>Frontend</a:t>
            </a:r>
          </a:p>
        </p:txBody>
      </p:sp>
      <p:sp>
        <p:nvSpPr>
          <p:cNvPr id="29" name="Oval 28"/>
          <p:cNvSpPr/>
          <p:nvPr/>
        </p:nvSpPr>
        <p:spPr>
          <a:xfrm>
            <a:off x="9912096" y="5166360"/>
            <a:ext cx="237744" cy="237744"/>
          </a:xfrm>
          <a:prstGeom prst="ellipse">
            <a:avLst/>
          </a:prstGeom>
          <a:solidFill>
            <a:srgbClr val="B1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31936" y="470916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 spc="300">
                <a:solidFill>
                  <a:srgbClr val="254872"/>
                </a:solidFill>
                <a:latin typeface="Corbel"/>
                <a:ea typeface="Yu Gothic UI"/>
              </a:rPr>
              <a:t>補佐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31936" y="545896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151211"/>
                </a:solidFill>
                <a:latin typeface="Sitka Banner"/>
                <a:ea typeface="Yu Mincho"/>
              </a:rPr>
              <a:t>Otai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49056" y="580644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3A3530"/>
                </a:solidFill>
                <a:latin typeface="Corbel"/>
                <a:ea typeface="Yu Gothic UI"/>
              </a:rPr>
              <a:t>Backend Support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2960" y="6035040"/>
            <a:ext cx="10515600" cy="6350"/>
          </a:xfrm>
          <a:prstGeom prst="rect">
            <a:avLst/>
          </a:prstGeom>
          <a:solidFill>
            <a:srgbClr val="D5C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61722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3A3530"/>
                </a:solidFill>
                <a:latin typeface="Sitka Banner"/>
                <a:ea typeface="Yu Mincho"/>
              </a:rPr>
              <a:t>Engineering, product, infrastructure — all carried by the same six people.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898378"/>
                </a:solidFill>
                <a:latin typeface="Corbel"/>
                <a:ea typeface="Yu Gothic UI"/>
              </a:rPr>
              <a:t>仲間   ·   THE TEAM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898378"/>
                </a:solidFill>
                <a:latin typeface="Corbel"/>
                <a:ea typeface="Yu Gothic UI"/>
              </a:rPr>
              <a:t>03 / 17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B15030"/>
                </a:solidFill>
                <a:latin typeface="Corbel"/>
                <a:ea typeface="Yu Gothic UI"/>
              </a:rPr>
              <a:t>流儀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0">
                <a:solidFill>
                  <a:srgbClr val="B15030"/>
                </a:solidFill>
                <a:latin typeface="Corbel"/>
                <a:ea typeface="Yu Gothic UI"/>
              </a:rPr>
              <a:t>HOW WE BUILD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25880"/>
            <a:ext cx="10515600" cy="6350"/>
          </a:xfrm>
          <a:prstGeom prst="rect">
            <a:avLst/>
          </a:prstGeom>
          <a:solidFill>
            <a:srgbClr val="D5C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1">
                <a:solidFill>
                  <a:srgbClr val="3A3530"/>
                </a:solidFill>
                <a:latin typeface="Sitka Banner"/>
                <a:ea typeface="Yu Mincho"/>
              </a:rPr>
              <a:t>Three principles every feature is held to.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402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 spc="100">
                <a:solidFill>
                  <a:srgbClr val="3A3530"/>
                </a:solidFill>
                <a:latin typeface="Corbel"/>
                <a:ea typeface="Yu Gothic UI"/>
              </a:rPr>
              <a:t>すべての機能が通る、三つの原則。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71800"/>
            <a:ext cx="3474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54872"/>
                </a:solidFill>
                <a:latin typeface="Sitka Banner"/>
                <a:ea typeface="Yu Mincho"/>
              </a:rPr>
              <a:t>Traceability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6616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 spc="400">
                <a:solidFill>
                  <a:srgbClr val="B15030"/>
                </a:solidFill>
                <a:latin typeface="Sitka Banner"/>
                <a:ea typeface="Yu Mincho"/>
              </a:rPr>
              <a:t>追跡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160520"/>
            <a:ext cx="457200" cy="12700"/>
          </a:xfrm>
          <a:prstGeom prst="rect">
            <a:avLst/>
          </a:prstGeom>
          <a:solidFill>
            <a:srgbClr val="B1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29768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1">
                <a:solidFill>
                  <a:srgbClr val="151211"/>
                </a:solidFill>
                <a:latin typeface="Sitka Banner"/>
                <a:ea typeface="Yu Mincho"/>
              </a:rPr>
              <a:t>Every feature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663440"/>
            <a:ext cx="34747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1">
                <a:solidFill>
                  <a:srgbClr val="3A3530"/>
                </a:solidFill>
                <a:latin typeface="Sitka Banner"/>
                <a:ea typeface="Yu Mincho"/>
              </a:rPr>
              <a:t>maps back to a customer's exact words — no code without a request.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80644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 spc="100">
                <a:solidFill>
                  <a:srgbClr val="3A3530"/>
                </a:solidFill>
                <a:latin typeface="Corbel"/>
                <a:ea typeface="Yu Gothic UI"/>
              </a:rPr>
              <a:t>顧客の言葉に紐づかない機能は、書かない。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971800"/>
            <a:ext cx="3474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54872"/>
                </a:solidFill>
                <a:latin typeface="Sitka Banner"/>
                <a:ea typeface="Yu Mincho"/>
              </a:rPr>
              <a:t>Ownership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56616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 spc="400">
                <a:solidFill>
                  <a:srgbClr val="B15030"/>
                </a:solidFill>
                <a:latin typeface="Sitka Banner"/>
                <a:ea typeface="Yu Mincho"/>
              </a:rPr>
              <a:t>責任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0" y="4160520"/>
            <a:ext cx="457200" cy="12700"/>
          </a:xfrm>
          <a:prstGeom prst="rect">
            <a:avLst/>
          </a:prstGeom>
          <a:solidFill>
            <a:srgbClr val="B1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429768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1">
                <a:solidFill>
                  <a:srgbClr val="151211"/>
                </a:solidFill>
                <a:latin typeface="Sitka Banner"/>
                <a:ea typeface="Yu Mincho"/>
              </a:rPr>
              <a:t>The engineer who ships 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4663440"/>
            <a:ext cx="34747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1">
                <a:solidFill>
                  <a:srgbClr val="3A3530"/>
                </a:solidFill>
                <a:latin typeface="Sitka Banner"/>
                <a:ea typeface="Yu Mincho"/>
              </a:rPr>
              <a:t>is the engineer who stands behind it when it runs in production.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580644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 spc="100">
                <a:solidFill>
                  <a:srgbClr val="3A3530"/>
                </a:solidFill>
                <a:latin typeface="Corbel"/>
                <a:ea typeface="Yu Gothic UI"/>
              </a:rPr>
              <a:t>作る者が、運用を支える者になる。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971800"/>
            <a:ext cx="3474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54872"/>
                </a:solidFill>
                <a:latin typeface="Sitka Banner"/>
                <a:ea typeface="Yu Mincho"/>
              </a:rPr>
              <a:t>Design first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356616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 spc="400">
                <a:solidFill>
                  <a:srgbClr val="B15030"/>
                </a:solidFill>
                <a:latin typeface="Sitka Banner"/>
                <a:ea typeface="Yu Mincho"/>
              </a:rPr>
              <a:t>設計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21040" y="4160520"/>
            <a:ext cx="457200" cy="12700"/>
          </a:xfrm>
          <a:prstGeom prst="rect">
            <a:avLst/>
          </a:prstGeom>
          <a:solidFill>
            <a:srgbClr val="B1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429768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1">
                <a:solidFill>
                  <a:srgbClr val="151211"/>
                </a:solidFill>
                <a:latin typeface="Sitka Banner"/>
                <a:ea typeface="Yu Mincho"/>
              </a:rPr>
              <a:t>We prove the design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4663440"/>
            <a:ext cx="34747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1">
                <a:solidFill>
                  <a:srgbClr val="3A3530"/>
                </a:solidFill>
                <a:latin typeface="Sitka Banner"/>
                <a:ea typeface="Yu Mincho"/>
              </a:rPr>
              <a:t>on paper before we write a line of code — rework starts before the build.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580644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 spc="100">
                <a:solidFill>
                  <a:srgbClr val="3A3530"/>
                </a:solidFill>
                <a:latin typeface="Corbel"/>
                <a:ea typeface="Yu Gothic UI"/>
              </a:rPr>
              <a:t>コードを書く前に、設計を確かめる。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898378"/>
                </a:solidFill>
                <a:latin typeface="Corbel"/>
                <a:ea typeface="Yu Gothic UI"/>
              </a:rPr>
              <a:t>流儀   ·   HOW WE BUILD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898378"/>
                </a:solidFill>
                <a:latin typeface="Corbel"/>
                <a:ea typeface="Yu Gothic UI"/>
              </a:rPr>
              <a:t>04 / 17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40080"/>
            <a:ext cx="22860" cy="5760720"/>
          </a:xfrm>
          <a:prstGeom prst="rect">
            <a:avLst/>
          </a:prstGeom>
          <a:solidFill>
            <a:srgbClr val="B1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6400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B15030"/>
                </a:solidFill>
                <a:latin typeface="Corbel"/>
                <a:ea typeface="Yu Gothic UI"/>
              </a:rPr>
              <a:t>其ノ壱   ·   APPAREL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051560"/>
            <a:ext cx="10058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0" b="1" i="0">
                <a:solidFill>
                  <a:srgbClr val="151211"/>
                </a:solidFill>
                <a:latin typeface="Sitka Banner"/>
                <a:ea typeface="Yu Mincho"/>
              </a:rPr>
              <a:t>Apparel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9659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3A3530"/>
                </a:solidFill>
                <a:latin typeface="Sitka Banner"/>
                <a:ea typeface="Yu Mincho"/>
              </a:rPr>
              <a:t>A product photo becomes a full fashion campaign.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3317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 spc="100">
                <a:solidFill>
                  <a:srgbClr val="3A3530"/>
                </a:solidFill>
                <a:latin typeface="Corbel"/>
                <a:ea typeface="Yu Gothic UI"/>
              </a:rPr>
              <a:t>一枚の商品写真から、プロ仕様のキャンペーンへ。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1188720" y="3108960"/>
            <a:ext cx="640080" cy="19050"/>
          </a:xfrm>
          <a:prstGeom prst="rect">
            <a:avLst/>
          </a:prstGeom>
          <a:solidFill>
            <a:srgbClr val="B1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33756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1">
                <a:solidFill>
                  <a:srgbClr val="151211"/>
                </a:solidFill>
                <a:latin typeface="Sitka Banner"/>
                <a:ea typeface="Yu Mincho"/>
              </a:rPr>
              <a:t>A brand uploads one photo of a garment.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977639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1">
                <a:solidFill>
                  <a:srgbClr val="151211"/>
                </a:solidFill>
                <a:latin typeface="Sitka Banner"/>
                <a:ea typeface="Yu Mincho"/>
              </a:rPr>
              <a:t>The team picks the model, the background, the mood.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61772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1">
                <a:solidFill>
                  <a:srgbClr val="151211"/>
                </a:solidFill>
                <a:latin typeface="Sitka Banner"/>
                <a:ea typeface="Yu Mincho"/>
              </a:rPr>
              <a:t>In the time it takes to pour a coffee, a full campaign arrives 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525780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254872"/>
                </a:solidFill>
                <a:latin typeface="Sitka Banner"/>
                <a:ea typeface="Yu Mincho"/>
              </a:rPr>
              <a:t>every look, every angle, ready to publish.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898378"/>
                </a:solidFill>
                <a:latin typeface="Corbel"/>
                <a:ea typeface="Yu Gothic UI"/>
              </a:rPr>
              <a:t>其ノ壱 · APPAREL   ·   PRODUCT 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898378"/>
                </a:solidFill>
                <a:latin typeface="Corbel"/>
                <a:ea typeface="Yu Gothic UI"/>
              </a:rPr>
              <a:t>05 / 17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B15030"/>
                </a:solidFill>
                <a:latin typeface="Corbel"/>
                <a:ea typeface="Yu Gothic UI"/>
              </a:rPr>
              <a:t>実例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0">
                <a:solidFill>
                  <a:srgbClr val="B15030"/>
                </a:solidFill>
                <a:latin typeface="Corbel"/>
                <a:ea typeface="Yu Gothic UI"/>
              </a:rPr>
              <a:t>APPAREL · IN ACTION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25880"/>
            <a:ext cx="10515600" cy="6350"/>
          </a:xfrm>
          <a:prstGeom prst="rect">
            <a:avLst/>
          </a:prstGeom>
          <a:solidFill>
            <a:srgbClr val="D5C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151211"/>
                </a:solidFill>
                <a:latin typeface="Sitka Banner"/>
                <a:ea typeface="Yu Mincho"/>
              </a:rPr>
              <a:t>Apparel, in action.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317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3A3530"/>
                </a:solidFill>
                <a:latin typeface="Sitka Banner"/>
                <a:ea typeface="Yu Mincho"/>
              </a:rPr>
              <a:t>The landing showcase, and the tool the team actually uses.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5176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 spc="100">
                <a:solidFill>
                  <a:srgbClr val="3A3530"/>
                </a:solidFill>
                <a:latin typeface="Corbel"/>
                <a:ea typeface="Yu Gothic UI"/>
              </a:rPr>
              <a:t>紹介ページと、実際のツール画面。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556248" y="2770632"/>
            <a:ext cx="4754880" cy="1768815"/>
          </a:xfrm>
          <a:prstGeom prst="rect">
            <a:avLst/>
          </a:prstGeom>
          <a:solidFill>
            <a:srgbClr val="BEB3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apparel.png"/>
          <p:cNvPicPr>
            <a:picLocks noChangeAspect="1"/>
          </p:cNvPicPr>
          <p:nvPr/>
        </p:nvPicPr>
        <p:blipFill>
          <a:blip r:embed="rId2"/>
          <a:srcRect t="13000"/>
          <a:stretch>
            <a:fillRect/>
          </a:stretch>
        </p:blipFill>
        <p:spPr>
          <a:xfrm>
            <a:off x="6492240" y="2697480"/>
            <a:ext cx="4754880" cy="1768815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905256" y="3621024"/>
            <a:ext cx="6400800" cy="2765145"/>
          </a:xfrm>
          <a:prstGeom prst="rect">
            <a:avLst/>
          </a:prstGeom>
          <a:solidFill>
            <a:srgbClr val="8F83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apparel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520440"/>
            <a:ext cx="6400800" cy="276514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898378"/>
                </a:solidFill>
                <a:latin typeface="Corbel"/>
                <a:ea typeface="Yu Gothic UI"/>
              </a:rPr>
              <a:t>実例   ·   APPAREL · IN ACTION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898378"/>
                </a:solidFill>
                <a:latin typeface="Corbel"/>
                <a:ea typeface="Yu Gothic UI"/>
              </a:rPr>
              <a:t>06 / 17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B15030"/>
                </a:solidFill>
                <a:latin typeface="Corbel"/>
                <a:ea typeface="Yu Gothic UI"/>
              </a:rPr>
              <a:t>進捗 · 其ノ壱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0">
                <a:solidFill>
                  <a:srgbClr val="B15030"/>
                </a:solidFill>
                <a:latin typeface="Corbel"/>
                <a:ea typeface="Yu Gothic UI"/>
              </a:rPr>
              <a:t>APPAREL · NOW &amp;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25880"/>
            <a:ext cx="10515600" cy="6350"/>
          </a:xfrm>
          <a:prstGeom prst="rect">
            <a:avLst/>
          </a:prstGeom>
          <a:solidFill>
            <a:srgbClr val="D5C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51211"/>
                </a:solidFill>
                <a:latin typeface="Sitka Banner"/>
                <a:ea typeface="Yu Mincho"/>
              </a:rPr>
              <a:t>Apparel — now and next.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3A3530"/>
                </a:solidFill>
                <a:latin typeface="Sitka Banner"/>
                <a:ea typeface="Yu Mincho"/>
              </a:rPr>
              <a:t>What's running, what's coming, who's doing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0604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 spc="100">
                <a:solidFill>
                  <a:srgbClr val="3A3530"/>
                </a:solidFill>
                <a:latin typeface="Corbel"/>
                <a:ea typeface="Yu Gothic UI"/>
              </a:rPr>
              <a:t>今、進めていること。次に取り掛かること。担うのは誰か。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154680"/>
            <a:ext cx="49377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898378"/>
                </a:solidFill>
                <a:latin typeface="Corbel"/>
                <a:ea typeface="Yu Gothic UI"/>
              </a:rPr>
              <a:t>NOW · 進行中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538728"/>
            <a:ext cx="502920" cy="19050"/>
          </a:xfrm>
          <a:prstGeom prst="rect">
            <a:avLst/>
          </a:prstGeom>
          <a:solidFill>
            <a:srgbClr val="8983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" y="3931920"/>
            <a:ext cx="82296" cy="82296"/>
          </a:xfrm>
          <a:prstGeom prst="ellipse">
            <a:avLst/>
          </a:prstGeom>
          <a:solidFill>
            <a:srgbClr val="8983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8404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151211"/>
                </a:solidFill>
                <a:latin typeface="Sitka Banner"/>
                <a:ea typeface="Yu Mincho"/>
              </a:rPr>
              <a:t>Production monitoring + GCP cost oversight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420624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 spc="50">
                <a:solidFill>
                  <a:srgbClr val="3A3530"/>
                </a:solidFill>
                <a:latin typeface="Corbel"/>
                <a:ea typeface="Yu Gothic UI"/>
              </a:rPr>
              <a:t>本番運用とGCP費用の監視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4709160"/>
            <a:ext cx="82296" cy="82296"/>
          </a:xfrm>
          <a:prstGeom prst="ellipse">
            <a:avLst/>
          </a:prstGeom>
          <a:solidFill>
            <a:srgbClr val="8983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6177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151211"/>
                </a:solidFill>
                <a:latin typeface="Sitka Banner"/>
                <a:ea typeface="Yu Mincho"/>
              </a:rPr>
              <a:t>Multi-angle background consistency — R&amp;D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9834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 spc="50">
                <a:solidFill>
                  <a:srgbClr val="3A3530"/>
                </a:solidFill>
                <a:latin typeface="Corbel"/>
                <a:ea typeface="Yu Gothic UI"/>
              </a:rPr>
              <a:t>多角度背景の一貫性 — 検証中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5486400"/>
            <a:ext cx="82296" cy="82296"/>
          </a:xfrm>
          <a:prstGeom prst="ellipse">
            <a:avLst/>
          </a:prstGeom>
          <a:solidFill>
            <a:srgbClr val="8983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539496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151211"/>
                </a:solidFill>
                <a:latin typeface="Sitka Banner"/>
                <a:ea typeface="Yu Mincho"/>
              </a:rPr>
              <a:t>Client-driven UX adjustments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576072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 spc="50">
                <a:solidFill>
                  <a:srgbClr val="3A3530"/>
                </a:solidFill>
                <a:latin typeface="Corbel"/>
                <a:ea typeface="Yu Gothic UI"/>
              </a:rPr>
              <a:t>顧客要望によるUX調整</a:t>
            </a:r>
          </a:p>
        </p:txBody>
      </p:sp>
      <p:sp>
        <p:nvSpPr>
          <p:cNvPr id="20" name="Oval 19"/>
          <p:cNvSpPr/>
          <p:nvPr/>
        </p:nvSpPr>
        <p:spPr>
          <a:xfrm>
            <a:off x="822960" y="6263640"/>
            <a:ext cx="82296" cy="82296"/>
          </a:xfrm>
          <a:prstGeom prst="ellipse">
            <a:avLst/>
          </a:prstGeom>
          <a:solidFill>
            <a:srgbClr val="8983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61722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151211"/>
                </a:solidFill>
                <a:latin typeface="Sitka Banner"/>
                <a:ea typeface="Yu Mincho"/>
              </a:rPr>
              <a:t>ComfyUI pipeline maintenance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653796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 spc="50">
                <a:solidFill>
                  <a:srgbClr val="3A3530"/>
                </a:solidFill>
                <a:latin typeface="Corbel"/>
                <a:ea typeface="Yu Gothic UI"/>
              </a:rPr>
              <a:t>ComfyUIパイプラインの保守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154680"/>
            <a:ext cx="49377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B15030"/>
                </a:solidFill>
                <a:latin typeface="Corbel"/>
                <a:ea typeface="Yu Gothic UI"/>
              </a:rPr>
              <a:t>NEXT · 60 DAYS · 次の60日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3538728"/>
            <a:ext cx="502920" cy="19050"/>
          </a:xfrm>
          <a:prstGeom prst="rect">
            <a:avLst/>
          </a:prstGeom>
          <a:solidFill>
            <a:srgbClr val="B1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00800" y="3931920"/>
            <a:ext cx="82296" cy="82296"/>
          </a:xfrm>
          <a:prstGeom prst="ellipse">
            <a:avLst/>
          </a:prstGeom>
          <a:solidFill>
            <a:srgbClr val="B1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29400" y="38404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151211"/>
                </a:solidFill>
                <a:latin typeface="Sitka Banner"/>
                <a:ea typeface="Yu Mincho"/>
              </a:rPr>
              <a:t>Sharper background engine — new perspectives, richer scenes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9400" y="420624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 spc="50">
                <a:solidFill>
                  <a:srgbClr val="3A3530"/>
                </a:solidFill>
                <a:latin typeface="Corbel"/>
                <a:ea typeface="Yu Gothic UI"/>
              </a:rPr>
              <a:t>背景エンジンの精度と視点を一段引き上げる</a:t>
            </a:r>
          </a:p>
        </p:txBody>
      </p:sp>
      <p:sp>
        <p:nvSpPr>
          <p:cNvPr id="28" name="Oval 27"/>
          <p:cNvSpPr/>
          <p:nvPr/>
        </p:nvSpPr>
        <p:spPr>
          <a:xfrm>
            <a:off x="6400800" y="4709160"/>
            <a:ext cx="82296" cy="82296"/>
          </a:xfrm>
          <a:prstGeom prst="ellipse">
            <a:avLst/>
          </a:prstGeom>
          <a:solidFill>
            <a:srgbClr val="B1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29400" y="46177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151211"/>
                </a:solidFill>
                <a:latin typeface="Sitka Banner"/>
                <a:ea typeface="Yu Mincho"/>
              </a:rPr>
              <a:t>Onboard new paying customers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400" y="49834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 spc="50">
                <a:solidFill>
                  <a:srgbClr val="3A3530"/>
                </a:solidFill>
                <a:latin typeface="Corbel"/>
                <a:ea typeface="Yu Gothic UI"/>
              </a:rPr>
              <a:t>新規有償顧客のオンボーディング</a:t>
            </a:r>
          </a:p>
        </p:txBody>
      </p:sp>
      <p:sp>
        <p:nvSpPr>
          <p:cNvPr id="31" name="Oval 30"/>
          <p:cNvSpPr/>
          <p:nvPr/>
        </p:nvSpPr>
        <p:spPr>
          <a:xfrm>
            <a:off x="6400800" y="5486400"/>
            <a:ext cx="82296" cy="82296"/>
          </a:xfrm>
          <a:prstGeom prst="ellipse">
            <a:avLst/>
          </a:prstGeom>
          <a:solidFill>
            <a:srgbClr val="B1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29400" y="539496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151211"/>
                </a:solidFill>
                <a:latin typeface="Sitka Banner"/>
                <a:ea typeface="Yu Mincho"/>
              </a:rPr>
              <a:t>Document ComfyUI pipeline; assign a backup engineer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29400" y="576072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 spc="50">
                <a:solidFill>
                  <a:srgbClr val="3A3530"/>
                </a:solidFill>
                <a:latin typeface="Corbel"/>
                <a:ea typeface="Yu Gothic UI"/>
              </a:rPr>
              <a:t>ComfyUIパイプラインの文書化と予備担当の任命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898378"/>
                </a:solidFill>
                <a:latin typeface="Corbel"/>
                <a:ea typeface="Yu Gothic UI"/>
              </a:rPr>
              <a:t>進捗 · APPAREL   ·   NOW &amp; NEXT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898378"/>
                </a:solidFill>
                <a:latin typeface="Corbel"/>
                <a:ea typeface="Yu Gothic UI"/>
              </a:rPr>
              <a:t>07 / 17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7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B15030"/>
                </a:solidFill>
                <a:latin typeface="Corbel"/>
                <a:ea typeface="Yu Gothic UI"/>
              </a:rPr>
              <a:t>体制 · 其ノ壱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0">
                <a:solidFill>
                  <a:srgbClr val="B15030"/>
                </a:solidFill>
                <a:latin typeface="Corbel"/>
                <a:ea typeface="Yu Gothic UI"/>
              </a:rPr>
              <a:t>APPAREL · THE TEAM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25880"/>
            <a:ext cx="10515600" cy="6350"/>
          </a:xfrm>
          <a:prstGeom prst="rect">
            <a:avLst/>
          </a:prstGeom>
          <a:solidFill>
            <a:srgbClr val="D5C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51211"/>
                </a:solidFill>
                <a:latin typeface="Sitka Banner"/>
                <a:ea typeface="Yu Mincho"/>
              </a:rPr>
              <a:t>The Apparel team.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3A3530"/>
                </a:solidFill>
                <a:latin typeface="Sitka Banner"/>
                <a:ea typeface="Yu Mincho"/>
              </a:rPr>
              <a:t>A small dedicated pair, focused on the work.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0604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 spc="100">
                <a:solidFill>
                  <a:srgbClr val="3A3530"/>
                </a:solidFill>
                <a:latin typeface="Corbel"/>
                <a:ea typeface="Yu Gothic UI"/>
              </a:rPr>
              <a:t>アパレルを支える、二人組。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1340967" y="3200400"/>
            <a:ext cx="4572000" cy="2468880"/>
          </a:xfrm>
          <a:prstGeom prst="rect">
            <a:avLst/>
          </a:prstGeom>
          <a:solidFill>
            <a:srgbClr val="ECE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340967" y="3200400"/>
            <a:ext cx="4572000" cy="28575"/>
          </a:xfrm>
          <a:prstGeom prst="rect">
            <a:avLst/>
          </a:prstGeom>
          <a:solidFill>
            <a:srgbClr val="B1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15687" y="3429000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4600" b="1" i="0">
                <a:solidFill>
                  <a:srgbClr val="B15030"/>
                </a:solidFill>
                <a:latin typeface="Sitka Banner"/>
                <a:ea typeface="Yu Mincho"/>
              </a:rPr>
              <a:t>基盤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06727" y="347472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51211"/>
                </a:solidFill>
                <a:latin typeface="Sitka Banner"/>
                <a:ea typeface="Yu Mincho"/>
              </a:rPr>
              <a:t>Muzuva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06727" y="406908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254872"/>
                </a:solidFill>
                <a:latin typeface="Sitka Banner"/>
                <a:ea typeface="Yu Mincho"/>
              </a:rPr>
              <a:t>Backend &amp; ComfyUI Lead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06727" y="4389120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C29046"/>
                </a:solidFill>
                <a:latin typeface="Sitka Banner"/>
                <a:ea typeface="Yu Mincho"/>
              </a:rPr>
              <a:t>≈ 16 h / week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706727" y="4892040"/>
            <a:ext cx="457200" cy="15240"/>
          </a:xfrm>
          <a:prstGeom prst="rect">
            <a:avLst/>
          </a:prstGeom>
          <a:solidFill>
            <a:srgbClr val="B1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706727" y="5029200"/>
            <a:ext cx="3840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151211"/>
                </a:solidFill>
                <a:latin typeface="Sitka Banner"/>
                <a:ea typeface="Yu Mincho"/>
              </a:rPr>
              <a:t>Splits time with Blueprint backend (16 h there).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06727" y="5321808"/>
            <a:ext cx="3840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 spc="50">
                <a:solidFill>
                  <a:srgbClr val="3A3530"/>
                </a:solidFill>
                <a:latin typeface="Corbel"/>
                <a:ea typeface="Yu Gothic UI"/>
              </a:rPr>
              <a:t>ブループリント側にも16時間を担当。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78727" y="3200400"/>
            <a:ext cx="4572000" cy="2468880"/>
          </a:xfrm>
          <a:prstGeom prst="rect">
            <a:avLst/>
          </a:prstGeom>
          <a:solidFill>
            <a:srgbClr val="ECE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78727" y="3200400"/>
            <a:ext cx="4572000" cy="28575"/>
          </a:xfrm>
          <a:prstGeom prst="rect">
            <a:avLst/>
          </a:prstGeom>
          <a:solidFill>
            <a:srgbClr val="B1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53447" y="3429000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4600" b="1" i="0">
                <a:solidFill>
                  <a:srgbClr val="B15030"/>
                </a:solidFill>
                <a:latin typeface="Sitka Banner"/>
                <a:ea typeface="Yu Mincho"/>
              </a:rPr>
              <a:t>表層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44487" y="347472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51211"/>
                </a:solidFill>
                <a:latin typeface="Sitka Banner"/>
                <a:ea typeface="Yu Mincho"/>
              </a:rPr>
              <a:t>Crispus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44487" y="406908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254872"/>
                </a:solidFill>
                <a:latin typeface="Sitka Banner"/>
                <a:ea typeface="Yu Mincho"/>
              </a:rPr>
              <a:t>Frontend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44487" y="4389120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C29046"/>
                </a:solidFill>
                <a:latin typeface="Sitka Banner"/>
                <a:ea typeface="Yu Mincho"/>
              </a:rPr>
              <a:t>≈ 8 h / week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44487" y="4892040"/>
            <a:ext cx="457200" cy="15240"/>
          </a:xfrm>
          <a:prstGeom prst="rect">
            <a:avLst/>
          </a:prstGeom>
          <a:solidFill>
            <a:srgbClr val="B1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44487" y="5029200"/>
            <a:ext cx="3840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151211"/>
                </a:solidFill>
                <a:latin typeface="Sitka Banner"/>
                <a:ea typeface="Yu Mincho"/>
              </a:rPr>
              <a:t>Splits time with Blueprint frontend (32 h there).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44487" y="5321808"/>
            <a:ext cx="3840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 spc="50">
                <a:solidFill>
                  <a:srgbClr val="3A3530"/>
                </a:solidFill>
                <a:latin typeface="Corbel"/>
                <a:ea typeface="Yu Gothic UI"/>
              </a:rPr>
              <a:t>ブループリント側に32時間、こちらは8時間。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" y="5943600"/>
            <a:ext cx="10515600" cy="6350"/>
          </a:xfrm>
          <a:prstGeom prst="rect">
            <a:avLst/>
          </a:prstGeom>
          <a:solidFill>
            <a:srgbClr val="D5C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6053328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54872"/>
                </a:solidFill>
                <a:latin typeface="Sitka Banner"/>
                <a:ea typeface="Yu Mincho"/>
              </a:rPr>
              <a:t>2 contributors  ·  24 hrs / week on Apparel  ·  Both also support Blueprint — flexible cross-product team.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635508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 spc="100">
                <a:solidFill>
                  <a:srgbClr val="3A3530"/>
                </a:solidFill>
                <a:latin typeface="Corbel"/>
                <a:ea typeface="Yu Gothic UI"/>
              </a:rPr>
              <a:t>アパレル側は2名・24時間/週。両者ともブループリントにも従事し、柔軟に横断。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898378"/>
                </a:solidFill>
                <a:latin typeface="Corbel"/>
                <a:ea typeface="Yu Gothic UI"/>
              </a:rPr>
              <a:t>体制 · APPAREL   ·   THE TEAM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898378"/>
                </a:solidFill>
                <a:latin typeface="Corbel"/>
                <a:ea typeface="Yu Gothic UI"/>
              </a:rPr>
              <a:t>08 / 17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2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40080"/>
            <a:ext cx="22860" cy="5760720"/>
          </a:xfrm>
          <a:prstGeom prst="rect">
            <a:avLst/>
          </a:prstGeom>
          <a:solidFill>
            <a:srgbClr val="4465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6400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44658C"/>
                </a:solidFill>
                <a:latin typeface="Corbel"/>
                <a:ea typeface="Yu Gothic UI"/>
              </a:rPr>
              <a:t>其ノ弐   ·   BLUEPRINT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051560"/>
            <a:ext cx="10058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0" b="1" i="0">
                <a:solidFill>
                  <a:srgbClr val="F4EEE3"/>
                </a:solidFill>
                <a:latin typeface="Sitka Banner"/>
                <a:ea typeface="Yu Mincho"/>
              </a:rPr>
              <a:t>Blueprint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9659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D5CAB4"/>
                </a:solidFill>
                <a:latin typeface="Sitka Banner"/>
                <a:ea typeface="Yu Mincho"/>
              </a:rPr>
              <a:t>Upload a blueprint.  Get instant analysis, parts list, and inspection.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3317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 spc="100">
                <a:solidFill>
                  <a:srgbClr val="D5CAB4"/>
                </a:solidFill>
                <a:latin typeface="Corbel"/>
                <a:ea typeface="Yu Gothic UI"/>
              </a:rPr>
              <a:t>図面を投げ込むだけで、解析・部品表・検査が返ってくる。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1188720" y="3108960"/>
            <a:ext cx="640080" cy="19050"/>
          </a:xfrm>
          <a:prstGeom prst="rect">
            <a:avLst/>
          </a:prstGeom>
          <a:solidFill>
            <a:srgbClr val="4465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33756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1">
                <a:solidFill>
                  <a:srgbClr val="F4EEE3"/>
                </a:solidFill>
                <a:latin typeface="Sitka Banner"/>
                <a:ea typeface="Yu Mincho"/>
              </a:rPr>
              <a:t>An engineer drops a technical drawing into Blueprint.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977639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1">
                <a:solidFill>
                  <a:srgbClr val="F4EEE3"/>
                </a:solidFill>
                <a:latin typeface="Sitka Banner"/>
                <a:ea typeface="Yu Mincho"/>
              </a:rPr>
              <a:t>Minutes later, three answers come back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61772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1">
                <a:solidFill>
                  <a:srgbClr val="F4EEE3"/>
                </a:solidFill>
                <a:latin typeface="Sitka Banner"/>
                <a:ea typeface="Yu Mincho"/>
              </a:rPr>
              <a:t>the parts list, already tabled.  The errors, circled with confidence.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525780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B15030"/>
                </a:solidFill>
                <a:latin typeface="Sitka Banner"/>
                <a:ea typeface="Yu Mincho"/>
              </a:rPr>
              <a:t>The text, searchable as any document.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D5CAB4"/>
                </a:solidFill>
                <a:latin typeface="Corbel"/>
                <a:ea typeface="Yu Gothic UI"/>
              </a:rPr>
              <a:t>其ノ弐 · BLUEPRINT   ·   PRODUCT TWO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D5CAB4"/>
                </a:solidFill>
                <a:latin typeface="Corbel"/>
                <a:ea typeface="Yu Gothic UI"/>
              </a:rPr>
              <a:t>09 / 17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254872"/>
                </a:solidFill>
                <a:latin typeface="Corbel"/>
                <a:ea typeface="Yu Gothic UI"/>
              </a:rPr>
              <a:t>動作中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0">
                <a:solidFill>
                  <a:srgbClr val="254872"/>
                </a:solidFill>
                <a:latin typeface="Corbel"/>
                <a:ea typeface="Yu Gothic UI"/>
              </a:rPr>
              <a:t>BLUEPRINT · AT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25880"/>
            <a:ext cx="10515600" cy="6350"/>
          </a:xfrm>
          <a:prstGeom prst="rect">
            <a:avLst/>
          </a:prstGeom>
          <a:solidFill>
            <a:srgbClr val="D5C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151211"/>
                </a:solidFill>
                <a:latin typeface="Sitka Banner"/>
                <a:ea typeface="Yu Mincho"/>
              </a:rPr>
              <a:t>Blueprint, at work.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317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3A3530"/>
                </a:solidFill>
                <a:latin typeface="Sitka Banner"/>
                <a:ea typeface="Yu Mincho"/>
              </a:rPr>
              <a:t>From the entry page to the parts list it extracts from a drawing.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5176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 spc="100">
                <a:solidFill>
                  <a:srgbClr val="3A3530"/>
                </a:solidFill>
                <a:latin typeface="Corbel"/>
                <a:ea typeface="Yu Gothic UI"/>
              </a:rPr>
              <a:t>入口から、図面より抽出される構造化された部品表まで。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739128" y="2770632"/>
            <a:ext cx="4572000" cy="1956816"/>
          </a:xfrm>
          <a:prstGeom prst="rect">
            <a:avLst/>
          </a:prstGeom>
          <a:solidFill>
            <a:srgbClr val="BEB3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b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697480"/>
            <a:ext cx="4572000" cy="195681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905256" y="3529584"/>
            <a:ext cx="6400800" cy="2739542"/>
          </a:xfrm>
          <a:prstGeom prst="rect">
            <a:avLst/>
          </a:prstGeom>
          <a:solidFill>
            <a:srgbClr val="8F83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bp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429000"/>
            <a:ext cx="6400800" cy="273954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898378"/>
                </a:solidFill>
                <a:latin typeface="Corbel"/>
                <a:ea typeface="Yu Gothic UI"/>
              </a:rPr>
              <a:t>動作中   ·   BLUEPRINT · AT 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898378"/>
                </a:solidFill>
                <a:latin typeface="Corbel"/>
                <a:ea typeface="Yu Gothic UI"/>
              </a:rPr>
              <a:t>10 / 17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254872"/>
                </a:solidFill>
                <a:latin typeface="Corbel"/>
                <a:ea typeface="Yu Gothic UI"/>
              </a:rPr>
              <a:t>進捗 · 其ノ弐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0">
                <a:solidFill>
                  <a:srgbClr val="254872"/>
                </a:solidFill>
                <a:latin typeface="Corbel"/>
                <a:ea typeface="Yu Gothic UI"/>
              </a:rPr>
              <a:t>BLUEPRINT · NOW &amp;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25880"/>
            <a:ext cx="10515600" cy="6350"/>
          </a:xfrm>
          <a:prstGeom prst="rect">
            <a:avLst/>
          </a:prstGeom>
          <a:solidFill>
            <a:srgbClr val="D5C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51211"/>
                </a:solidFill>
                <a:latin typeface="Sitka Banner"/>
                <a:ea typeface="Yu Mincho"/>
              </a:rPr>
              <a:t>Blueprint — now and next.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3A3530"/>
                </a:solidFill>
                <a:latin typeface="Sitka Banner"/>
                <a:ea typeface="Yu Mincho"/>
              </a:rPr>
              <a:t>What's running, what's coming, who's doing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0604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 spc="100">
                <a:solidFill>
                  <a:srgbClr val="3A3530"/>
                </a:solidFill>
                <a:latin typeface="Corbel"/>
                <a:ea typeface="Yu Gothic UI"/>
              </a:rPr>
              <a:t>今、進めていること。次に取り掛かること。担うのは誰か。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154680"/>
            <a:ext cx="49377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898378"/>
                </a:solidFill>
                <a:latin typeface="Corbel"/>
                <a:ea typeface="Yu Gothic UI"/>
              </a:rPr>
              <a:t>NOW · 進行中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538728"/>
            <a:ext cx="502920" cy="19050"/>
          </a:xfrm>
          <a:prstGeom prst="rect">
            <a:avLst/>
          </a:prstGeom>
          <a:solidFill>
            <a:srgbClr val="8983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" y="3931920"/>
            <a:ext cx="82296" cy="82296"/>
          </a:xfrm>
          <a:prstGeom prst="ellipse">
            <a:avLst/>
          </a:prstGeom>
          <a:solidFill>
            <a:srgbClr val="8983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8404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151211"/>
                </a:solidFill>
                <a:latin typeface="Sitka Banner"/>
                <a:ea typeface="Yu Mincho"/>
              </a:rPr>
              <a:t>BP Check · BOM · Scan running in production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420624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 spc="50">
                <a:solidFill>
                  <a:srgbClr val="3A3530"/>
                </a:solidFill>
                <a:latin typeface="Corbel"/>
                <a:ea typeface="Yu Gothic UI"/>
              </a:rPr>
              <a:t>BP Check / BOM / Scan が本番稼働中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4709160"/>
            <a:ext cx="82296" cy="82296"/>
          </a:xfrm>
          <a:prstGeom prst="ellipse">
            <a:avLst/>
          </a:prstGeom>
          <a:solidFill>
            <a:srgbClr val="8983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6177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151211"/>
                </a:solidFill>
                <a:latin typeface="Sitka Banner"/>
                <a:ea typeface="Yu Mincho"/>
              </a:rPr>
              <a:t>GPU / workflow decoupling — active rework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9834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 spc="50">
                <a:solidFill>
                  <a:srgbClr val="3A3530"/>
                </a:solidFill>
                <a:latin typeface="Corbel"/>
                <a:ea typeface="Yu Gothic UI"/>
              </a:rPr>
              <a:t>GPU・ワークフロー分離の改修中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5486400"/>
            <a:ext cx="82296" cy="82296"/>
          </a:xfrm>
          <a:prstGeom prst="ellipse">
            <a:avLst/>
          </a:prstGeom>
          <a:solidFill>
            <a:srgbClr val="8983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539496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151211"/>
                </a:solidFill>
                <a:latin typeface="Sitka Banner"/>
                <a:ea typeface="Yu Mincho"/>
              </a:rPr>
              <a:t>Continuous testing + monitoring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576072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 spc="50">
                <a:solidFill>
                  <a:srgbClr val="3A3530"/>
                </a:solidFill>
                <a:latin typeface="Corbel"/>
                <a:ea typeface="Yu Gothic UI"/>
              </a:rPr>
              <a:t>継続的なテストと監視</a:t>
            </a:r>
          </a:p>
        </p:txBody>
      </p:sp>
      <p:sp>
        <p:nvSpPr>
          <p:cNvPr id="20" name="Oval 19"/>
          <p:cNvSpPr/>
          <p:nvPr/>
        </p:nvSpPr>
        <p:spPr>
          <a:xfrm>
            <a:off x="822960" y="6263640"/>
            <a:ext cx="82296" cy="82296"/>
          </a:xfrm>
          <a:prstGeom prst="ellipse">
            <a:avLst/>
          </a:prstGeom>
          <a:solidFill>
            <a:srgbClr val="8983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61722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151211"/>
                </a:solidFill>
                <a:latin typeface="Sitka Banner"/>
                <a:ea typeface="Yu Mincho"/>
              </a:rPr>
              <a:t>Per-tenant configuration support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653796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 spc="50">
                <a:solidFill>
                  <a:srgbClr val="3A3530"/>
                </a:solidFill>
                <a:latin typeface="Corbel"/>
                <a:ea typeface="Yu Gothic UI"/>
              </a:rPr>
              <a:t>テナント別設定への対応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154680"/>
            <a:ext cx="49377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54872"/>
                </a:solidFill>
                <a:latin typeface="Corbel"/>
                <a:ea typeface="Yu Gothic UI"/>
              </a:rPr>
              <a:t>NEXT · 60 DAYS · 次の60日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3538728"/>
            <a:ext cx="502920" cy="19050"/>
          </a:xfrm>
          <a:prstGeom prst="rect">
            <a:avLst/>
          </a:prstGeom>
          <a:solidFill>
            <a:srgbClr val="254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00800" y="3931920"/>
            <a:ext cx="82296" cy="82296"/>
          </a:xfrm>
          <a:prstGeom prst="ellipse">
            <a:avLst/>
          </a:prstGeom>
          <a:solidFill>
            <a:srgbClr val="254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29400" y="38404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151211"/>
                </a:solidFill>
                <a:latin typeface="Sitka Banner"/>
                <a:ea typeface="Yu Mincho"/>
              </a:rPr>
              <a:t>New workflows tailored for specific organisations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9400" y="420624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 spc="50">
                <a:solidFill>
                  <a:srgbClr val="3A3530"/>
                </a:solidFill>
                <a:latin typeface="Corbel"/>
                <a:ea typeface="Yu Gothic UI"/>
              </a:rPr>
              <a:t>特定組織向けの新ワークフロー追加</a:t>
            </a:r>
          </a:p>
        </p:txBody>
      </p:sp>
      <p:sp>
        <p:nvSpPr>
          <p:cNvPr id="28" name="Oval 27"/>
          <p:cNvSpPr/>
          <p:nvPr/>
        </p:nvSpPr>
        <p:spPr>
          <a:xfrm>
            <a:off x="6400800" y="4709160"/>
            <a:ext cx="82296" cy="82296"/>
          </a:xfrm>
          <a:prstGeom prst="ellipse">
            <a:avLst/>
          </a:prstGeom>
          <a:solidFill>
            <a:srgbClr val="254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29400" y="46177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151211"/>
                </a:solidFill>
                <a:latin typeface="Sitka Banner"/>
                <a:ea typeface="Yu Mincho"/>
              </a:rPr>
              <a:t>Stabilise + harden recently shipped features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400" y="49834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 spc="50">
                <a:solidFill>
                  <a:srgbClr val="3A3530"/>
                </a:solidFill>
                <a:latin typeface="Corbel"/>
                <a:ea typeface="Yu Gothic UI"/>
              </a:rPr>
              <a:t>新規機能の安定化と強化検証</a:t>
            </a:r>
          </a:p>
        </p:txBody>
      </p:sp>
      <p:sp>
        <p:nvSpPr>
          <p:cNvPr id="31" name="Oval 30"/>
          <p:cNvSpPr/>
          <p:nvPr/>
        </p:nvSpPr>
        <p:spPr>
          <a:xfrm>
            <a:off x="6400800" y="5486400"/>
            <a:ext cx="82296" cy="82296"/>
          </a:xfrm>
          <a:prstGeom prst="ellipse">
            <a:avLst/>
          </a:prstGeom>
          <a:solidFill>
            <a:srgbClr val="254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29400" y="539496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151211"/>
                </a:solidFill>
                <a:latin typeface="Sitka Banner"/>
                <a:ea typeface="Yu Mincho"/>
              </a:rPr>
              <a:t>BP Check / BOM to first billed engineering teams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29400" y="576072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 spc="50">
                <a:solidFill>
                  <a:srgbClr val="3A3530"/>
                </a:solidFill>
                <a:latin typeface="Corbel"/>
                <a:ea typeface="Yu Gothic UI"/>
              </a:rPr>
              <a:t>BP Check・BOMを初の有償運用へ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898378"/>
                </a:solidFill>
                <a:latin typeface="Corbel"/>
                <a:ea typeface="Yu Gothic UI"/>
              </a:rPr>
              <a:t>進捗 · BLUEPRINT   ·   NOW &amp; NEXT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898378"/>
                </a:solidFill>
                <a:latin typeface="Corbel"/>
                <a:ea typeface="Yu Gothic UI"/>
              </a:rPr>
              <a:t>11 / 17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7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254872"/>
                </a:solidFill>
                <a:latin typeface="Corbel"/>
                <a:ea typeface="Yu Gothic UI"/>
              </a:rPr>
              <a:t>体制 · 其ノ弐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0">
                <a:solidFill>
                  <a:srgbClr val="254872"/>
                </a:solidFill>
                <a:latin typeface="Corbel"/>
                <a:ea typeface="Yu Gothic UI"/>
              </a:rPr>
              <a:t>BLUEPRINT · THE TEAM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25880"/>
            <a:ext cx="10515600" cy="6350"/>
          </a:xfrm>
          <a:prstGeom prst="rect">
            <a:avLst/>
          </a:prstGeom>
          <a:solidFill>
            <a:srgbClr val="D5C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51211"/>
                </a:solidFill>
                <a:latin typeface="Sitka Banner"/>
                <a:ea typeface="Yu Mincho"/>
              </a:rPr>
              <a:t>The Blueprint team.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3A3530"/>
                </a:solidFill>
                <a:latin typeface="Sitka Banner"/>
                <a:ea typeface="Yu Mincho"/>
              </a:rPr>
              <a:t>Six contributors carrying the engine — four dedicated, two shared.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0604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 spc="100">
                <a:solidFill>
                  <a:srgbClr val="3A3530"/>
                </a:solidFill>
                <a:latin typeface="Corbel"/>
                <a:ea typeface="Yu Gothic UI"/>
              </a:rPr>
              <a:t>ブループリントを支える六人 — 専属四名、横断二名。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063240"/>
            <a:ext cx="3419856" cy="1325880"/>
          </a:xfrm>
          <a:prstGeom prst="rect">
            <a:avLst/>
          </a:prstGeom>
          <a:solidFill>
            <a:srgbClr val="ECE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3063240"/>
            <a:ext cx="3419856" cy="28575"/>
          </a:xfrm>
          <a:prstGeom prst="rect">
            <a:avLst/>
          </a:prstGeom>
          <a:solidFill>
            <a:srgbClr val="254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3227832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51211"/>
                </a:solidFill>
                <a:latin typeface="Sitka Banner"/>
                <a:ea typeface="Yu Mincho"/>
              </a:rPr>
              <a:t>Aita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02736" y="3182112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2200" b="1" i="0">
                <a:solidFill>
                  <a:srgbClr val="254872"/>
                </a:solidFill>
                <a:latin typeface="Sitka Banner"/>
                <a:ea typeface="Yu Mincho"/>
              </a:rPr>
              <a:t>設計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630168"/>
            <a:ext cx="29169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254872"/>
                </a:solidFill>
                <a:latin typeface="Sitka Banner"/>
                <a:ea typeface="Yu Mincho"/>
              </a:rPr>
              <a:t>Backend &amp; Engine Lead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3941064"/>
            <a:ext cx="291693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C29046"/>
                </a:solidFill>
                <a:latin typeface="Sitka Banner"/>
                <a:ea typeface="Yu Mincho"/>
              </a:rPr>
              <a:t>32 h / week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79976" y="3063240"/>
            <a:ext cx="3419856" cy="1325880"/>
          </a:xfrm>
          <a:prstGeom prst="rect">
            <a:avLst/>
          </a:prstGeom>
          <a:solidFill>
            <a:srgbClr val="ECE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79976" y="3063240"/>
            <a:ext cx="3419856" cy="28575"/>
          </a:xfrm>
          <a:prstGeom prst="rect">
            <a:avLst/>
          </a:prstGeom>
          <a:solidFill>
            <a:srgbClr val="254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36008" y="3227832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51211"/>
                </a:solidFill>
                <a:latin typeface="Sitka Banner"/>
                <a:ea typeface="Yu Mincho"/>
              </a:rPr>
              <a:t>Lauben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59752" y="3182112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2200" b="1" i="0">
                <a:solidFill>
                  <a:srgbClr val="254872"/>
                </a:solidFill>
                <a:latin typeface="Sitka Banner"/>
                <a:ea typeface="Yu Mincho"/>
              </a:rPr>
              <a:t>土台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36008" y="3630168"/>
            <a:ext cx="29169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254872"/>
                </a:solidFill>
                <a:latin typeface="Sitka Banner"/>
                <a:ea typeface="Yu Mincho"/>
              </a:rPr>
              <a:t>Infrastructure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36008" y="3941064"/>
            <a:ext cx="291693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C29046"/>
                </a:solidFill>
                <a:latin typeface="Sitka Banner"/>
                <a:ea typeface="Yu Mincho"/>
              </a:rPr>
              <a:t>40 h / week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36992" y="3063240"/>
            <a:ext cx="3419856" cy="1325880"/>
          </a:xfrm>
          <a:prstGeom prst="rect">
            <a:avLst/>
          </a:prstGeom>
          <a:solidFill>
            <a:srgbClr val="ECE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36992" y="3063240"/>
            <a:ext cx="3419856" cy="28575"/>
          </a:xfrm>
          <a:prstGeom prst="rect">
            <a:avLst/>
          </a:prstGeom>
          <a:solidFill>
            <a:srgbClr val="254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93024" y="3227832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51211"/>
                </a:solidFill>
                <a:latin typeface="Sitka Banner"/>
                <a:ea typeface="Yu Mincho"/>
              </a:rPr>
              <a:t>Otai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16768" y="3182112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2200" b="1" i="0">
                <a:solidFill>
                  <a:srgbClr val="254872"/>
                </a:solidFill>
                <a:latin typeface="Sitka Banner"/>
                <a:ea typeface="Yu Mincho"/>
              </a:rPr>
              <a:t>補佐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93024" y="3630168"/>
            <a:ext cx="29169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254872"/>
                </a:solidFill>
                <a:latin typeface="Sitka Banner"/>
                <a:ea typeface="Yu Mincho"/>
              </a:rPr>
              <a:t>Backend Support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93024" y="3941064"/>
            <a:ext cx="291693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C29046"/>
                </a:solidFill>
                <a:latin typeface="Sitka Banner"/>
                <a:ea typeface="Yu Mincho"/>
              </a:rPr>
              <a:t>32 h / week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" y="4553712"/>
            <a:ext cx="3419856" cy="1325880"/>
          </a:xfrm>
          <a:prstGeom prst="rect">
            <a:avLst/>
          </a:prstGeom>
          <a:solidFill>
            <a:srgbClr val="ECE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2960" y="4553712"/>
            <a:ext cx="3419856" cy="28575"/>
          </a:xfrm>
          <a:prstGeom prst="rect">
            <a:avLst/>
          </a:prstGeom>
          <a:solidFill>
            <a:srgbClr val="254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78992" y="4718304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51211"/>
                </a:solidFill>
                <a:latin typeface="Sitka Banner"/>
                <a:ea typeface="Yu Mincho"/>
              </a:rPr>
              <a:t>Ambrose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02736" y="4672584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2200" b="1" i="0">
                <a:solidFill>
                  <a:srgbClr val="254872"/>
                </a:solidFill>
                <a:latin typeface="Sitka Banner"/>
                <a:ea typeface="Yu Mincho"/>
              </a:rPr>
              <a:t>統率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8992" y="5120640"/>
            <a:ext cx="29169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254872"/>
                </a:solidFill>
                <a:latin typeface="Sitka Banner"/>
                <a:ea typeface="Yu Mincho"/>
              </a:rPr>
              <a:t>Systems &amp; Product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992" y="5431536"/>
            <a:ext cx="291693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C29046"/>
                </a:solidFill>
                <a:latin typeface="Sitka Banner"/>
                <a:ea typeface="Yu Mincho"/>
              </a:rPr>
              <a:t>16 h / week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79976" y="4553712"/>
            <a:ext cx="3419856" cy="1325880"/>
          </a:xfrm>
          <a:prstGeom prst="rect">
            <a:avLst/>
          </a:prstGeom>
          <a:solidFill>
            <a:srgbClr val="ECE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379976" y="4553712"/>
            <a:ext cx="3419856" cy="28575"/>
          </a:xfrm>
          <a:prstGeom prst="rect">
            <a:avLst/>
          </a:prstGeom>
          <a:solidFill>
            <a:srgbClr val="254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36008" y="4718304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51211"/>
                </a:solidFill>
                <a:latin typeface="Sitka Banner"/>
                <a:ea typeface="Yu Mincho"/>
              </a:rPr>
              <a:t>Muzuva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59752" y="4672584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2200" b="1" i="0">
                <a:solidFill>
                  <a:srgbClr val="254872"/>
                </a:solidFill>
                <a:latin typeface="Sitka Banner"/>
                <a:ea typeface="Yu Mincho"/>
              </a:rPr>
              <a:t>基盤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36008" y="5120640"/>
            <a:ext cx="29169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254872"/>
                </a:solidFill>
                <a:latin typeface="Sitka Banner"/>
                <a:ea typeface="Yu Mincho"/>
              </a:rPr>
              <a:t>Backend &amp; ComfyUI  *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36008" y="5431536"/>
            <a:ext cx="291693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C29046"/>
                </a:solidFill>
                <a:latin typeface="Sitka Banner"/>
                <a:ea typeface="Yu Mincho"/>
              </a:rPr>
              <a:t>16 h / week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936992" y="4553712"/>
            <a:ext cx="3419856" cy="1325880"/>
          </a:xfrm>
          <a:prstGeom prst="rect">
            <a:avLst/>
          </a:prstGeom>
          <a:solidFill>
            <a:srgbClr val="ECE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936992" y="4553712"/>
            <a:ext cx="3419856" cy="28575"/>
          </a:xfrm>
          <a:prstGeom prst="rect">
            <a:avLst/>
          </a:prstGeom>
          <a:solidFill>
            <a:srgbClr val="254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93024" y="4718304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51211"/>
                </a:solidFill>
                <a:latin typeface="Sitka Banner"/>
                <a:ea typeface="Yu Mincho"/>
              </a:rPr>
              <a:t>Crispus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716768" y="4672584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2200" b="1" i="0">
                <a:solidFill>
                  <a:srgbClr val="254872"/>
                </a:solidFill>
                <a:latin typeface="Sitka Banner"/>
                <a:ea typeface="Yu Mincho"/>
              </a:rPr>
              <a:t>表層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93024" y="5120640"/>
            <a:ext cx="29169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254872"/>
                </a:solidFill>
                <a:latin typeface="Sitka Banner"/>
                <a:ea typeface="Yu Mincho"/>
              </a:rPr>
              <a:t>Frontend  *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93024" y="5431536"/>
            <a:ext cx="291693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C29046"/>
                </a:solidFill>
                <a:latin typeface="Sitka Banner"/>
                <a:ea typeface="Yu Mincho"/>
              </a:rPr>
              <a:t>32 h / week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" y="589788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 spc="100">
                <a:solidFill>
                  <a:srgbClr val="3A3530"/>
                </a:solidFill>
                <a:latin typeface="Corbel"/>
                <a:ea typeface="Yu Gothic UI"/>
              </a:rPr>
              <a:t>*  Muzuva and Crispus also contribute to Apparel  ·  Apparelとも兼務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22960" y="6199632"/>
            <a:ext cx="10515600" cy="6350"/>
          </a:xfrm>
          <a:prstGeom prst="rect">
            <a:avLst/>
          </a:prstGeom>
          <a:solidFill>
            <a:srgbClr val="D5C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2960" y="629107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54872"/>
                </a:solidFill>
                <a:latin typeface="Sitka Banner"/>
                <a:ea typeface="Yu Mincho"/>
              </a:rPr>
              <a:t>6 contributors  ·  168 hrs / week  ·  Hold; +1 backend if client workflows scale.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898378"/>
                </a:solidFill>
                <a:latin typeface="Corbel"/>
                <a:ea typeface="Yu Gothic UI"/>
              </a:rPr>
              <a:t>体制 · BLUEPRINT   ·   THE TEAM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898378"/>
                </a:solidFill>
                <a:latin typeface="Corbel"/>
                <a:ea typeface="Yu Gothic UI"/>
              </a:rPr>
              <a:t>12 / 17</a:t>
            </a: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254872"/>
                </a:solidFill>
                <a:latin typeface="Corbel"/>
                <a:ea typeface="Yu Gothic UI"/>
              </a:rPr>
              <a:t>学び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0">
                <a:solidFill>
                  <a:srgbClr val="254872"/>
                </a:solidFill>
                <a:latin typeface="Corbel"/>
                <a:ea typeface="Yu Gothic UI"/>
              </a:rPr>
              <a:t>WHAT WE'VE LEARNED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25880"/>
            <a:ext cx="10515600" cy="6350"/>
          </a:xfrm>
          <a:prstGeom prst="rect">
            <a:avLst/>
          </a:prstGeom>
          <a:solidFill>
            <a:srgbClr val="D5C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51211"/>
                </a:solidFill>
                <a:latin typeface="Sitka Banner"/>
                <a:ea typeface="Yu Mincho"/>
              </a:rPr>
              <a:t>Three lessons the quarter pressed into us.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231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 spc="100">
                <a:solidFill>
                  <a:srgbClr val="3A3530"/>
                </a:solidFill>
                <a:latin typeface="Corbel"/>
                <a:ea typeface="Yu Gothic UI"/>
              </a:rPr>
              <a:t>今期、現場が教えてくれた三つのこと。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017520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B15030"/>
                </a:solidFill>
                <a:latin typeface="Sitka Banner"/>
                <a:ea typeface="Yu Mincho"/>
              </a:rPr>
              <a:t>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971800"/>
            <a:ext cx="2651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 spc="200">
                <a:solidFill>
                  <a:srgbClr val="254872"/>
                </a:solidFill>
                <a:latin typeface="Sitka Banner"/>
                <a:ea typeface="Yu Mincho"/>
              </a:rPr>
              <a:t>Responsibility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342900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1" spc="200">
                <a:solidFill>
                  <a:srgbClr val="B15030"/>
                </a:solidFill>
                <a:latin typeface="Corbel"/>
                <a:ea typeface="Yu Gothic UI"/>
              </a:rPr>
              <a:t>責任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990088"/>
            <a:ext cx="6949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 i="1">
                <a:solidFill>
                  <a:srgbClr val="151211"/>
                </a:solidFill>
                <a:latin typeface="Sitka Banner"/>
                <a:ea typeface="Yu Mincho"/>
              </a:rPr>
              <a:t>A process only one person can run is a risk the whole team carries.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429000"/>
            <a:ext cx="6949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1">
                <a:solidFill>
                  <a:srgbClr val="3A3530"/>
                </a:solidFill>
                <a:latin typeface="Sitka Banner"/>
                <a:ea typeface="Yu Mincho"/>
              </a:rPr>
              <a:t>This quarter we retired two single-person dependencies by documenting them out loud.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813048"/>
            <a:ext cx="6949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 spc="100">
                <a:solidFill>
                  <a:srgbClr val="3A3530"/>
                </a:solidFill>
                <a:latin typeface="Corbel"/>
                <a:ea typeface="Yu Gothic UI"/>
              </a:rPr>
              <a:t>一人しか動かせない工程は、チーム全体のリスクでした。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023360"/>
            <a:ext cx="10515600" cy="6350"/>
          </a:xfrm>
          <a:prstGeom prst="rect">
            <a:avLst/>
          </a:prstGeom>
          <a:solidFill>
            <a:srgbClr val="D5C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133088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B15030"/>
                </a:solidFill>
                <a:latin typeface="Sitka Banner"/>
                <a:ea typeface="Yu Mincho"/>
              </a:rPr>
              <a:t>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4087368"/>
            <a:ext cx="2651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 spc="200">
                <a:solidFill>
                  <a:srgbClr val="254872"/>
                </a:solidFill>
                <a:latin typeface="Sitka Banner"/>
                <a:ea typeface="Yu Mincho"/>
              </a:rPr>
              <a:t>Listening to the client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4544568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1" spc="200">
                <a:solidFill>
                  <a:srgbClr val="B15030"/>
                </a:solidFill>
                <a:latin typeface="Corbel"/>
                <a:ea typeface="Yu Gothic UI"/>
              </a:rPr>
              <a:t>顧客の声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4105656"/>
            <a:ext cx="6949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 i="1">
                <a:solidFill>
                  <a:srgbClr val="151211"/>
                </a:solidFill>
                <a:latin typeface="Sitka Banner"/>
                <a:ea typeface="Yu Mincho"/>
              </a:rPr>
              <a:t>Customers find the problems our tests and monitors cannot.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4544568"/>
            <a:ext cx="6949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1">
                <a:solidFill>
                  <a:srgbClr val="3A3530"/>
                </a:solidFill>
                <a:latin typeface="Sitka Banner"/>
                <a:ea typeface="Yu Mincho"/>
              </a:rPr>
              <a:t>Our best fixes this quarter came from support tickets, not from dashboards.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4928616"/>
            <a:ext cx="6949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 spc="100">
                <a:solidFill>
                  <a:srgbClr val="3A3530"/>
                </a:solidFill>
                <a:latin typeface="Corbel"/>
                <a:ea typeface="Yu Gothic UI"/>
              </a:rPr>
              <a:t>最良の修正は、監視画面ではなく顧客の声から生まれました。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5138928"/>
            <a:ext cx="10515600" cy="6350"/>
          </a:xfrm>
          <a:prstGeom prst="rect">
            <a:avLst/>
          </a:prstGeom>
          <a:solidFill>
            <a:srgbClr val="D5C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248656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B15030"/>
                </a:solidFill>
                <a:latin typeface="Sitka Banner"/>
                <a:ea typeface="Yu Mincho"/>
              </a:rPr>
              <a:t>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91640" y="5202936"/>
            <a:ext cx="2651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 spc="200">
                <a:solidFill>
                  <a:srgbClr val="254872"/>
                </a:solidFill>
                <a:latin typeface="Sitka Banner"/>
                <a:ea typeface="Yu Mincho"/>
              </a:rPr>
              <a:t>Documentation is engineering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5660136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1" spc="200">
                <a:solidFill>
                  <a:srgbClr val="B15030"/>
                </a:solidFill>
                <a:latin typeface="Corbel"/>
                <a:ea typeface="Yu Gothic UI"/>
              </a:rPr>
              <a:t>文書化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5221224"/>
            <a:ext cx="6949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 i="1">
                <a:solidFill>
                  <a:srgbClr val="151211"/>
                </a:solidFill>
                <a:latin typeface="Sitka Banner"/>
                <a:ea typeface="Yu Mincho"/>
              </a:rPr>
              <a:t>Docs ship with the code, or they never ship at all.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5660136"/>
            <a:ext cx="6949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1">
                <a:solidFill>
                  <a:srgbClr val="3A3530"/>
                </a:solidFill>
                <a:latin typeface="Sitka Banner"/>
                <a:ea typeface="Yu Mincho"/>
              </a:rPr>
              <a:t>Every shortcut we took on documentation became next sprint's delay.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6044184"/>
            <a:ext cx="6949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 spc="100">
                <a:solidFill>
                  <a:srgbClr val="3A3530"/>
                </a:solidFill>
                <a:latin typeface="Corbel"/>
                <a:ea typeface="Yu Gothic UI"/>
              </a:rPr>
              <a:t>省いた文書は、次のスプリントの遅延になりました。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898378"/>
                </a:solidFill>
                <a:latin typeface="Corbel"/>
                <a:ea typeface="Yu Gothic UI"/>
              </a:rPr>
              <a:t>学び   ·   WHAT WE'VE LEARNED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898378"/>
                </a:solidFill>
                <a:latin typeface="Corbel"/>
                <a:ea typeface="Yu Gothic UI"/>
              </a:rPr>
              <a:t>13 / 17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B15030"/>
                </a:solidFill>
                <a:latin typeface="Corbel"/>
                <a:ea typeface="Yu Gothic UI"/>
              </a:rPr>
              <a:t>概要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0">
                <a:solidFill>
                  <a:srgbClr val="B15030"/>
                </a:solidFill>
                <a:latin typeface="Corbel"/>
                <a:ea typeface="Yu Gothic UI"/>
              </a:rPr>
              <a:t>IN BRIEF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25880"/>
            <a:ext cx="10515600" cy="6350"/>
          </a:xfrm>
          <a:prstGeom prst="rect">
            <a:avLst/>
          </a:prstGeom>
          <a:solidFill>
            <a:srgbClr val="D5C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151211"/>
                </a:solidFill>
                <a:latin typeface="Sitka Banner"/>
                <a:ea typeface="Yu Mincho"/>
              </a:rPr>
              <a:t>In Brief.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317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3A3530"/>
                </a:solidFill>
                <a:latin typeface="Sitka Banner"/>
                <a:ea typeface="Yu Mincho"/>
              </a:rPr>
              <a:t>Four figures that map this quarter — the journey in numbers.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5176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 spc="100">
                <a:solidFill>
                  <a:srgbClr val="3A3530"/>
                </a:solidFill>
                <a:latin typeface="Corbel"/>
                <a:ea typeface="Yu Gothic UI"/>
              </a:rPr>
              <a:t>四つの数字でたどる、今期の歩み。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1737360" y="4434840"/>
            <a:ext cx="8686800" cy="9525"/>
          </a:xfrm>
          <a:prstGeom prst="rect">
            <a:avLst/>
          </a:prstGeom>
          <a:solidFill>
            <a:srgbClr val="D5C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3280" y="4370832"/>
            <a:ext cx="91440" cy="137160"/>
          </a:xfrm>
          <a:prstGeom prst="rect">
            <a:avLst/>
          </a:prstGeom>
          <a:solidFill>
            <a:srgbClr val="B1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35040" y="4370832"/>
            <a:ext cx="91440" cy="137160"/>
          </a:xfrm>
          <a:prstGeom prst="rect">
            <a:avLst/>
          </a:prstGeom>
          <a:solidFill>
            <a:srgbClr val="B1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0" y="4370832"/>
            <a:ext cx="91440" cy="137160"/>
          </a:xfrm>
          <a:prstGeom prst="rect">
            <a:avLst/>
          </a:prstGeom>
          <a:solidFill>
            <a:srgbClr val="B1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463039" y="3794759"/>
            <a:ext cx="1280160" cy="1280160"/>
          </a:xfrm>
          <a:prstGeom prst="ellipse">
            <a:avLst/>
          </a:prstGeom>
          <a:solidFill>
            <a:srgbClr val="ECE4D3"/>
          </a:solidFill>
          <a:ln w="15875">
            <a:solidFill>
              <a:srgbClr val="B15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45919" y="3200399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 spc="300">
                <a:solidFill>
                  <a:srgbClr val="C29046"/>
                </a:solidFill>
                <a:latin typeface="Sitka Banner"/>
                <a:ea typeface="Yu Mincho"/>
              </a:rPr>
              <a:t>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19" y="4023359"/>
            <a:ext cx="13716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00" b="1" i="0">
                <a:solidFill>
                  <a:srgbClr val="254872"/>
                </a:solidFill>
                <a:latin typeface="Sitka Banner"/>
                <a:ea typeface="Yu Minch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79" y="5212079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51211"/>
                </a:solidFill>
                <a:latin typeface="Sitka Banner"/>
                <a:ea typeface="Yu Mincho"/>
              </a:rPr>
              <a:t>products live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79" y="553212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3A3530"/>
                </a:solidFill>
                <a:latin typeface="Sitka Banner"/>
                <a:ea typeface="Yu Mincho"/>
              </a:rPr>
              <a:t>in production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79" y="5879592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 spc="100">
                <a:solidFill>
                  <a:srgbClr val="3A3530"/>
                </a:solidFill>
                <a:latin typeface="Corbel"/>
                <a:ea typeface="Yu Gothic UI"/>
              </a:rPr>
              <a:t>本番稼働中</a:t>
            </a:r>
          </a:p>
        </p:txBody>
      </p:sp>
      <p:sp>
        <p:nvSpPr>
          <p:cNvPr id="19" name="Oval 18"/>
          <p:cNvSpPr/>
          <p:nvPr/>
        </p:nvSpPr>
        <p:spPr>
          <a:xfrm>
            <a:off x="4114799" y="3794759"/>
            <a:ext cx="1280160" cy="1280160"/>
          </a:xfrm>
          <a:prstGeom prst="ellipse">
            <a:avLst/>
          </a:prstGeom>
          <a:solidFill>
            <a:srgbClr val="ECE4D3"/>
          </a:solidFill>
          <a:ln w="15875">
            <a:solidFill>
              <a:srgbClr val="B15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97679" y="3200399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 spc="300">
                <a:solidFill>
                  <a:srgbClr val="C29046"/>
                </a:solidFill>
                <a:latin typeface="Sitka Banner"/>
                <a:ea typeface="Yu Mincho"/>
              </a:rPr>
              <a:t>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69079" y="4023359"/>
            <a:ext cx="13716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00" b="1" i="0">
                <a:solidFill>
                  <a:srgbClr val="254872"/>
                </a:solidFill>
                <a:latin typeface="Sitka Banner"/>
                <a:ea typeface="Yu Mincho"/>
              </a:rPr>
              <a:t>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39" y="5212079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51211"/>
                </a:solidFill>
                <a:latin typeface="Sitka Banner"/>
                <a:ea typeface="Yu Mincho"/>
              </a:rPr>
              <a:t>engineers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39" y="553212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3A3530"/>
                </a:solidFill>
                <a:latin typeface="Sitka Banner"/>
                <a:ea typeface="Yu Mincho"/>
              </a:rPr>
              <a:t>one end-to-end team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20439" y="5879592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 spc="100">
                <a:solidFill>
                  <a:srgbClr val="3A3530"/>
                </a:solidFill>
                <a:latin typeface="Corbel"/>
                <a:ea typeface="Yu Gothic UI"/>
              </a:rPr>
              <a:t>一つのチーム</a:t>
            </a:r>
          </a:p>
        </p:txBody>
      </p:sp>
      <p:sp>
        <p:nvSpPr>
          <p:cNvPr id="25" name="Oval 24"/>
          <p:cNvSpPr/>
          <p:nvPr/>
        </p:nvSpPr>
        <p:spPr>
          <a:xfrm>
            <a:off x="6766559" y="3794759"/>
            <a:ext cx="1280160" cy="1280160"/>
          </a:xfrm>
          <a:prstGeom prst="ellipse">
            <a:avLst/>
          </a:prstGeom>
          <a:solidFill>
            <a:srgbClr val="ECE4D3"/>
          </a:solidFill>
          <a:ln w="15875">
            <a:solidFill>
              <a:srgbClr val="B15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49440" y="3200399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 spc="300">
                <a:solidFill>
                  <a:srgbClr val="C29046"/>
                </a:solidFill>
                <a:latin typeface="Sitka Banner"/>
                <a:ea typeface="Yu Mincho"/>
              </a:rPr>
              <a:t>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4023359"/>
            <a:ext cx="13716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54872"/>
                </a:solidFill>
                <a:latin typeface="Sitka Banner"/>
                <a:ea typeface="Yu Mincho"/>
              </a:rPr>
              <a:t>1 → 100+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72200" y="5212079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51211"/>
                </a:solidFill>
                <a:latin typeface="Sitka Banner"/>
                <a:ea typeface="Yu Mincho"/>
              </a:rPr>
              <a:t>one product photo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72200" y="553212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3A3530"/>
                </a:solidFill>
                <a:latin typeface="Sitka Banner"/>
                <a:ea typeface="Yu Mincho"/>
              </a:rPr>
              <a:t>becomes a full campaign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5879592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 spc="100">
                <a:solidFill>
                  <a:srgbClr val="3A3530"/>
                </a:solidFill>
                <a:latin typeface="Corbel"/>
                <a:ea typeface="Yu Gothic UI"/>
              </a:rPr>
              <a:t>一枚から百枚超へ</a:t>
            </a:r>
          </a:p>
        </p:txBody>
      </p:sp>
      <p:sp>
        <p:nvSpPr>
          <p:cNvPr id="31" name="Oval 30"/>
          <p:cNvSpPr/>
          <p:nvPr/>
        </p:nvSpPr>
        <p:spPr>
          <a:xfrm>
            <a:off x="9418320" y="3794759"/>
            <a:ext cx="1280160" cy="1280160"/>
          </a:xfrm>
          <a:prstGeom prst="ellipse">
            <a:avLst/>
          </a:prstGeom>
          <a:solidFill>
            <a:srgbClr val="ECE4D3"/>
          </a:solidFill>
          <a:ln w="15875">
            <a:solidFill>
              <a:srgbClr val="B15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01200" y="3200399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 spc="300">
                <a:solidFill>
                  <a:srgbClr val="C29046"/>
                </a:solidFill>
                <a:latin typeface="Sitka Banner"/>
                <a:ea typeface="Yu Mincho"/>
              </a:rPr>
              <a:t>四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72600" y="4023359"/>
            <a:ext cx="13716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54872"/>
                </a:solidFill>
                <a:latin typeface="Sitka Banner"/>
                <a:ea typeface="Yu Mincho"/>
              </a:rPr>
              <a:t>hrs → 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23960" y="5212079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51211"/>
                </a:solidFill>
                <a:latin typeface="Sitka Banner"/>
                <a:ea typeface="Yu Mincho"/>
              </a:rPr>
              <a:t>blueprint reviews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23960" y="553212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3A3530"/>
                </a:solidFill>
                <a:latin typeface="Sitka Banner"/>
                <a:ea typeface="Yu Mincho"/>
              </a:rPr>
              <a:t>hours down to minutes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23960" y="5879592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 spc="100">
                <a:solidFill>
                  <a:srgbClr val="3A3530"/>
                </a:solidFill>
                <a:latin typeface="Corbel"/>
                <a:ea typeface="Yu Gothic UI"/>
              </a:rPr>
              <a:t>数時間から数分へ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62179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 spc="100">
                <a:solidFill>
                  <a:srgbClr val="898378"/>
                </a:solidFill>
                <a:latin typeface="Corbel"/>
                <a:ea typeface="Yu Gothic UI"/>
              </a:rPr>
              <a:t>Figures directional for this note; final numbers confirmed at quarter-end.   数字は目安、四半期締めに確定。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898378"/>
                </a:solidFill>
                <a:latin typeface="Corbel"/>
                <a:ea typeface="Yu Gothic UI"/>
              </a:rPr>
              <a:t>概要   ·   IN BRIEF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898378"/>
                </a:solidFill>
                <a:latin typeface="Corbel"/>
                <a:ea typeface="Yu Gothic UI"/>
              </a:rPr>
              <a:t>14 / 17</a:t>
            </a:r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B15030"/>
                </a:solidFill>
                <a:latin typeface="Corbel"/>
                <a:ea typeface="Yu Gothic UI"/>
              </a:rPr>
              <a:t>配置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0">
                <a:solidFill>
                  <a:srgbClr val="B15030"/>
                </a:solidFill>
                <a:latin typeface="Corbel"/>
                <a:ea typeface="Yu Gothic UI"/>
              </a:rPr>
              <a:t>THE TEAM PICTURE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25880"/>
            <a:ext cx="10515600" cy="6350"/>
          </a:xfrm>
          <a:prstGeom prst="rect">
            <a:avLst/>
          </a:prstGeom>
          <a:solidFill>
            <a:srgbClr val="D5C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51211"/>
                </a:solidFill>
                <a:latin typeface="Sitka Banner"/>
                <a:ea typeface="Yu Mincho"/>
              </a:rPr>
              <a:t>Six people, two products, two crossing both.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3A3530"/>
                </a:solidFill>
                <a:latin typeface="Sitka Banner"/>
                <a:ea typeface="Yu Mincho"/>
              </a:rPr>
              <a:t>Where the team currently sits — and where capacity could shift.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0604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 spc="100">
                <a:solidFill>
                  <a:srgbClr val="3A3530"/>
                </a:solidFill>
                <a:latin typeface="Corbel"/>
                <a:ea typeface="Yu Gothic UI"/>
              </a:rPr>
              <a:t>二つのプロダクトと、それを横断する二人。現状と今後の調整余地。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1089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B15030"/>
                </a:solidFill>
                <a:latin typeface="Corbel"/>
                <a:ea typeface="Yu Gothic UI"/>
              </a:rPr>
              <a:t>APPAREL  ·  2 人  ·  24 hrs / week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566160"/>
            <a:ext cx="548640" cy="19050"/>
          </a:xfrm>
          <a:prstGeom prst="rect">
            <a:avLst/>
          </a:prstGeom>
          <a:solidFill>
            <a:srgbClr val="B1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" y="3913632"/>
            <a:ext cx="82296" cy="82296"/>
          </a:xfrm>
          <a:prstGeom prst="ellipse">
            <a:avLst/>
          </a:prstGeom>
          <a:solidFill>
            <a:srgbClr val="B1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822192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51211"/>
                </a:solidFill>
                <a:latin typeface="Sitka Banner"/>
                <a:ea typeface="Yu Mincho"/>
              </a:rPr>
              <a:t>Muzuva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382219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A3530"/>
                </a:solidFill>
                <a:latin typeface="Sitka Banner"/>
                <a:ea typeface="Yu Mincho"/>
              </a:rPr>
              <a:t>Backend &amp; ComfyUI Lead *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3822192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 i="0">
                <a:solidFill>
                  <a:srgbClr val="C29046"/>
                </a:solidFill>
                <a:latin typeface="Sitka Banner"/>
                <a:ea typeface="Yu Mincho"/>
              </a:rPr>
              <a:t>16h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4325112"/>
            <a:ext cx="82296" cy="82296"/>
          </a:xfrm>
          <a:prstGeom prst="ellipse">
            <a:avLst/>
          </a:prstGeom>
          <a:solidFill>
            <a:srgbClr val="B1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233672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51211"/>
                </a:solidFill>
                <a:latin typeface="Sitka Banner"/>
                <a:ea typeface="Yu Mincho"/>
              </a:rPr>
              <a:t>Crispus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42336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A3530"/>
                </a:solidFill>
                <a:latin typeface="Sitka Banner"/>
                <a:ea typeface="Yu Mincho"/>
              </a:rPr>
              <a:t>Frontend 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4233672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 i="0">
                <a:solidFill>
                  <a:srgbClr val="C29046"/>
                </a:solidFill>
                <a:latin typeface="Sitka Banner"/>
                <a:ea typeface="Yu Mincho"/>
              </a:rPr>
              <a:t>8h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31089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254872"/>
                </a:solidFill>
                <a:latin typeface="Corbel"/>
                <a:ea typeface="Yu Gothic UI"/>
              </a:rPr>
              <a:t>BLUEPRINT  ·  6 人  ·  168 hrs / week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3566160"/>
            <a:ext cx="548640" cy="19050"/>
          </a:xfrm>
          <a:prstGeom prst="rect">
            <a:avLst/>
          </a:prstGeom>
          <a:solidFill>
            <a:srgbClr val="254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09360" y="3913632"/>
            <a:ext cx="82296" cy="82296"/>
          </a:xfrm>
          <a:prstGeom prst="ellipse">
            <a:avLst/>
          </a:prstGeom>
          <a:solidFill>
            <a:srgbClr val="254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3822192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51211"/>
                </a:solidFill>
                <a:latin typeface="Sitka Banner"/>
                <a:ea typeface="Yu Mincho"/>
              </a:rPr>
              <a:t>Aita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382219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A3530"/>
                </a:solidFill>
                <a:latin typeface="Sitka Banner"/>
                <a:ea typeface="Yu Mincho"/>
              </a:rPr>
              <a:t>Backend &amp; Engine Lead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3822192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 i="0">
                <a:solidFill>
                  <a:srgbClr val="C29046"/>
                </a:solidFill>
                <a:latin typeface="Sitka Banner"/>
                <a:ea typeface="Yu Mincho"/>
              </a:rPr>
              <a:t>32h</a:t>
            </a:r>
          </a:p>
        </p:txBody>
      </p:sp>
      <p:sp>
        <p:nvSpPr>
          <p:cNvPr id="25" name="Oval 24"/>
          <p:cNvSpPr/>
          <p:nvPr/>
        </p:nvSpPr>
        <p:spPr>
          <a:xfrm>
            <a:off x="6309360" y="4325112"/>
            <a:ext cx="82296" cy="82296"/>
          </a:xfrm>
          <a:prstGeom prst="ellipse">
            <a:avLst/>
          </a:prstGeom>
          <a:solidFill>
            <a:srgbClr val="254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60" y="4233672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51211"/>
                </a:solidFill>
                <a:latin typeface="Sitka Banner"/>
                <a:ea typeface="Yu Mincho"/>
              </a:rPr>
              <a:t>Lauben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42336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A3530"/>
                </a:solidFill>
                <a:latin typeface="Sitka Banner"/>
                <a:ea typeface="Yu Mincho"/>
              </a:rPr>
              <a:t>Infrastructure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4233672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 i="0">
                <a:solidFill>
                  <a:srgbClr val="C29046"/>
                </a:solidFill>
                <a:latin typeface="Sitka Banner"/>
                <a:ea typeface="Yu Mincho"/>
              </a:rPr>
              <a:t>40h</a:t>
            </a:r>
          </a:p>
        </p:txBody>
      </p:sp>
      <p:sp>
        <p:nvSpPr>
          <p:cNvPr id="29" name="Oval 28"/>
          <p:cNvSpPr/>
          <p:nvPr/>
        </p:nvSpPr>
        <p:spPr>
          <a:xfrm>
            <a:off x="6309360" y="4736592"/>
            <a:ext cx="82296" cy="82296"/>
          </a:xfrm>
          <a:prstGeom prst="ellipse">
            <a:avLst/>
          </a:prstGeom>
          <a:solidFill>
            <a:srgbClr val="254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37960" y="4645152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51211"/>
                </a:solidFill>
                <a:latin typeface="Sitka Banner"/>
                <a:ea typeface="Yu Mincho"/>
              </a:rPr>
              <a:t>Otai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464515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A3530"/>
                </a:solidFill>
                <a:latin typeface="Sitka Banner"/>
                <a:ea typeface="Yu Mincho"/>
              </a:rPr>
              <a:t>Backend Support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4645152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 i="0">
                <a:solidFill>
                  <a:srgbClr val="C29046"/>
                </a:solidFill>
                <a:latin typeface="Sitka Banner"/>
                <a:ea typeface="Yu Mincho"/>
              </a:rPr>
              <a:t>32h</a:t>
            </a:r>
          </a:p>
        </p:txBody>
      </p:sp>
      <p:sp>
        <p:nvSpPr>
          <p:cNvPr id="33" name="Oval 32"/>
          <p:cNvSpPr/>
          <p:nvPr/>
        </p:nvSpPr>
        <p:spPr>
          <a:xfrm>
            <a:off x="6309360" y="5148072"/>
            <a:ext cx="82296" cy="82296"/>
          </a:xfrm>
          <a:prstGeom prst="ellipse">
            <a:avLst/>
          </a:prstGeom>
          <a:solidFill>
            <a:srgbClr val="254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37960" y="5056632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51211"/>
                </a:solidFill>
                <a:latin typeface="Sitka Banner"/>
                <a:ea typeface="Yu Mincho"/>
              </a:rPr>
              <a:t>Ambrose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0" y="505663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A3530"/>
                </a:solidFill>
                <a:latin typeface="Sitka Banner"/>
                <a:ea typeface="Yu Mincho"/>
              </a:rPr>
              <a:t>Systems &amp; Product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5056632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 i="0">
                <a:solidFill>
                  <a:srgbClr val="C29046"/>
                </a:solidFill>
                <a:latin typeface="Sitka Banner"/>
                <a:ea typeface="Yu Mincho"/>
              </a:rPr>
              <a:t>16h</a:t>
            </a:r>
          </a:p>
        </p:txBody>
      </p:sp>
      <p:sp>
        <p:nvSpPr>
          <p:cNvPr id="37" name="Oval 36"/>
          <p:cNvSpPr/>
          <p:nvPr/>
        </p:nvSpPr>
        <p:spPr>
          <a:xfrm>
            <a:off x="6309360" y="5559552"/>
            <a:ext cx="82296" cy="82296"/>
          </a:xfrm>
          <a:prstGeom prst="ellipse">
            <a:avLst/>
          </a:prstGeom>
          <a:solidFill>
            <a:srgbClr val="254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37960" y="5468112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51211"/>
                </a:solidFill>
                <a:latin typeface="Sitka Banner"/>
                <a:ea typeface="Yu Mincho"/>
              </a:rPr>
              <a:t>Crispus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63840" y="546811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A3530"/>
                </a:solidFill>
                <a:latin typeface="Sitka Banner"/>
                <a:ea typeface="Yu Mincho"/>
              </a:rPr>
              <a:t>Frontend *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5468112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 i="0">
                <a:solidFill>
                  <a:srgbClr val="C29046"/>
                </a:solidFill>
                <a:latin typeface="Sitka Banner"/>
                <a:ea typeface="Yu Mincho"/>
              </a:rPr>
              <a:t>32h</a:t>
            </a:r>
          </a:p>
        </p:txBody>
      </p:sp>
      <p:sp>
        <p:nvSpPr>
          <p:cNvPr id="41" name="Oval 40"/>
          <p:cNvSpPr/>
          <p:nvPr/>
        </p:nvSpPr>
        <p:spPr>
          <a:xfrm>
            <a:off x="6309360" y="5971032"/>
            <a:ext cx="82296" cy="82296"/>
          </a:xfrm>
          <a:prstGeom prst="ellipse">
            <a:avLst/>
          </a:prstGeom>
          <a:solidFill>
            <a:srgbClr val="254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37960" y="5879592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51211"/>
                </a:solidFill>
                <a:latin typeface="Sitka Banner"/>
                <a:ea typeface="Yu Mincho"/>
              </a:rPr>
              <a:t>Muzuva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63840" y="587959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A3530"/>
                </a:solidFill>
                <a:latin typeface="Sitka Banner"/>
                <a:ea typeface="Yu Mincho"/>
              </a:rPr>
              <a:t>Backend &amp; ComfyUI *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0" y="5879592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 i="0">
                <a:solidFill>
                  <a:srgbClr val="C29046"/>
                </a:solidFill>
                <a:latin typeface="Sitka Banner"/>
                <a:ea typeface="Yu Mincho"/>
              </a:rPr>
              <a:t>16h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" y="565099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3A3530"/>
                </a:solidFill>
                <a:latin typeface="Sitka Banner"/>
                <a:ea typeface="Yu Mincho"/>
              </a:rPr>
              <a:t>*  Muzuva and Crispus split time across both products.   Unique headcount: 6.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22960" y="5943600"/>
            <a:ext cx="10515600" cy="6350"/>
          </a:xfrm>
          <a:prstGeom prst="rect">
            <a:avLst/>
          </a:prstGeom>
          <a:solidFill>
            <a:srgbClr val="D5C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2960" y="6053328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54872"/>
                </a:solidFill>
                <a:latin typeface="Sitka Banner"/>
                <a:ea typeface="Yu Mincho"/>
              </a:rPr>
              <a:t>Open question  ·  Where does Japan-side capacity best slot in over the next 60 days?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960" y="635508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 spc="100">
                <a:solidFill>
                  <a:srgbClr val="3A3530"/>
                </a:solidFill>
                <a:latin typeface="Corbel"/>
                <a:ea typeface="Yu Gothic UI"/>
              </a:rPr>
              <a:t>今後60日、日本側のリソースをどこに配置するのが最善か。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898378"/>
                </a:solidFill>
                <a:latin typeface="Corbel"/>
                <a:ea typeface="Yu Gothic UI"/>
              </a:rPr>
              <a:t>配置   ·   TEAM PICTURE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898378"/>
                </a:solidFill>
                <a:latin typeface="Corbel"/>
                <a:ea typeface="Yu Gothic UI"/>
              </a:rPr>
              <a:t>15 / 17</a:t>
            </a:r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54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B1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F4EEE3"/>
                </a:solidFill>
                <a:latin typeface="Corbel"/>
                <a:ea typeface="Yu Gothic UI"/>
              </a:rPr>
              <a:t>これから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326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0">
                <a:solidFill>
                  <a:srgbClr val="F4EEE3"/>
                </a:solidFill>
                <a:latin typeface="Corbel"/>
                <a:ea typeface="Yu Gothic UI"/>
              </a:rPr>
              <a:t>THE NEXT 60 DAYS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325880"/>
            <a:ext cx="10515600" cy="6350"/>
          </a:xfrm>
          <a:prstGeom prst="rect">
            <a:avLst/>
          </a:prstGeom>
          <a:solidFill>
            <a:srgbClr val="4465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9164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4EEE3"/>
                </a:solidFill>
                <a:latin typeface="Sitka Banner"/>
                <a:ea typeface="Yu Mincho"/>
              </a:rPr>
              <a:t>Three concrete moves in the next 60 days.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231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 spc="100">
                <a:solidFill>
                  <a:srgbClr val="D5CAB4"/>
                </a:solidFill>
                <a:latin typeface="Corbel"/>
                <a:ea typeface="Yu Gothic UI"/>
              </a:rPr>
              <a:t>今後60日間で、確実に進める三手。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01752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B15030"/>
                </a:solidFill>
                <a:latin typeface="Sitka Banner"/>
                <a:ea typeface="Yu Mincho"/>
              </a:rPr>
              <a:t>Apparel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3063240"/>
            <a:ext cx="8412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4EEE3"/>
                </a:solidFill>
                <a:latin typeface="Sitka Banner"/>
                <a:ea typeface="Yu Mincho"/>
              </a:rPr>
              <a:t>Users are already on board.  We sharpen the background engine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3429000"/>
            <a:ext cx="8412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D5CAB4"/>
                </a:solidFill>
                <a:latin typeface="Sitka Banner"/>
                <a:ea typeface="Yu Mincho"/>
              </a:rPr>
              <a:t>new perspectives, richer scenes, a visibly better experience.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3840480"/>
            <a:ext cx="8412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 spc="100">
                <a:solidFill>
                  <a:srgbClr val="D5CAB4"/>
                </a:solidFill>
                <a:latin typeface="Corbel"/>
                <a:ea typeface="Yu Gothic UI"/>
              </a:rPr>
              <a:t>背景生成の精度と構図を引き上げ、体験をもう一段高めます。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4114800"/>
            <a:ext cx="11155680" cy="6350"/>
          </a:xfrm>
          <a:prstGeom prst="rect">
            <a:avLst/>
          </a:prstGeom>
          <a:solidFill>
            <a:srgbClr val="4465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06908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B15030"/>
                </a:solidFill>
                <a:latin typeface="Sitka Banner"/>
                <a:ea typeface="Yu Mincho"/>
              </a:rPr>
              <a:t>Blueprint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4114800"/>
            <a:ext cx="8412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4EEE3"/>
                </a:solidFill>
                <a:latin typeface="Sitka Banner"/>
                <a:ea typeface="Yu Mincho"/>
              </a:rPr>
              <a:t>New workflows tailored for specific organisations.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4480560"/>
            <a:ext cx="8412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D5CAB4"/>
                </a:solidFill>
                <a:latin typeface="Sitka Banner"/>
                <a:ea typeface="Yu Mincho"/>
              </a:rPr>
              <a:t>Stabilise, test, and harden what's already shipped.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4892040"/>
            <a:ext cx="8412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 spc="100">
                <a:solidFill>
                  <a:srgbClr val="D5CAB4"/>
                </a:solidFill>
                <a:latin typeface="Corbel"/>
                <a:ea typeface="Yu Gothic UI"/>
              </a:rPr>
              <a:t>特定組織向けの新ワークフロー追加と、既存機能の安定化・検証。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5166360"/>
            <a:ext cx="11155680" cy="6350"/>
          </a:xfrm>
          <a:prstGeom prst="rect">
            <a:avLst/>
          </a:prstGeom>
          <a:solidFill>
            <a:srgbClr val="4465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12064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B15030"/>
                </a:solidFill>
                <a:latin typeface="Sitka Banner"/>
                <a:ea typeface="Yu Mincho"/>
              </a:rPr>
              <a:t>The team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5166360"/>
            <a:ext cx="8412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4EEE3"/>
                </a:solidFill>
                <a:latin typeface="Sitka Banner"/>
                <a:ea typeface="Yu Mincho"/>
              </a:rPr>
              <a:t>Close the last single-person dependencies.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5532120"/>
            <a:ext cx="8412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D5CAB4"/>
                </a:solidFill>
                <a:latin typeface="Sitka Banner"/>
                <a:ea typeface="Yu Mincho"/>
              </a:rPr>
              <a:t>Turn the learnings from both products into shared team playbooks.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5943600"/>
            <a:ext cx="8412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 spc="100">
                <a:solidFill>
                  <a:srgbClr val="D5CAB4"/>
                </a:solidFill>
                <a:latin typeface="Corbel"/>
                <a:ea typeface="Yu Gothic UI"/>
              </a:rPr>
              <a:t>単独依存を解消し、両プロダクトの学びをチームの手引きに。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6217920"/>
            <a:ext cx="11155680" cy="6350"/>
          </a:xfrm>
          <a:prstGeom prst="rect">
            <a:avLst/>
          </a:prstGeom>
          <a:solidFill>
            <a:srgbClr val="4465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D5CAB4"/>
                </a:solidFill>
                <a:latin typeface="Corbel"/>
                <a:ea typeface="Yu Gothic UI"/>
              </a:rPr>
              <a:t>これから   ·   THE NEXT 60 DAYS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D5CAB4"/>
                </a:solidFill>
                <a:latin typeface="Corbel"/>
                <a:ea typeface="Yu Gothic UI"/>
              </a:rPr>
              <a:t>16 / 17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B15030"/>
                </a:solidFill>
                <a:latin typeface="Corbel"/>
                <a:ea typeface="Yu Gothic UI"/>
              </a:rPr>
              <a:t>お伺い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0">
                <a:solidFill>
                  <a:srgbClr val="B15030"/>
                </a:solidFill>
                <a:latin typeface="Corbel"/>
                <a:ea typeface="Yu Gothic UI"/>
              </a:rPr>
              <a:t>ONE REQUEST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25880"/>
            <a:ext cx="10515600" cy="6350"/>
          </a:xfrm>
          <a:prstGeom prst="rect">
            <a:avLst/>
          </a:prstGeom>
          <a:solidFill>
            <a:srgbClr val="D5C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105156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 i="0">
                <a:solidFill>
                  <a:srgbClr val="151211"/>
                </a:solidFill>
                <a:latin typeface="Sitka Banner"/>
                <a:ea typeface="Yu Mincho"/>
              </a:rPr>
              <a:t>Which of the two would you like us to open next?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7889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 i="1" spc="100">
                <a:solidFill>
                  <a:srgbClr val="3A3530"/>
                </a:solidFill>
                <a:latin typeface="Corbel"/>
                <a:ea typeface="Yu Gothic UI"/>
              </a:rPr>
              <a:t>どちらの作品を、次にご覧になりたいですか。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337560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1">
                <a:solidFill>
                  <a:srgbClr val="3A3530"/>
                </a:solidFill>
                <a:latin typeface="Sitka Banner"/>
                <a:ea typeface="Yu Mincho"/>
              </a:rPr>
              <a:t>We'd be glad to walk the team deeper into whichever one interests you.</a:t>
            </a:r>
          </a:p>
        </p:txBody>
      </p:sp>
      <p:sp>
        <p:nvSpPr>
          <p:cNvPr id="9" name="Rectangle 8"/>
          <p:cNvSpPr/>
          <p:nvPr/>
        </p:nvSpPr>
        <p:spPr>
          <a:xfrm>
            <a:off x="1340967" y="3886200"/>
            <a:ext cx="4572000" cy="2148840"/>
          </a:xfrm>
          <a:prstGeom prst="rect">
            <a:avLst/>
          </a:prstGeom>
          <a:solidFill>
            <a:srgbClr val="ECE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340967" y="3886200"/>
            <a:ext cx="4572000" cy="22860"/>
          </a:xfrm>
          <a:prstGeom prst="rect">
            <a:avLst/>
          </a:prstGeom>
          <a:solidFill>
            <a:srgbClr val="B1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06727" y="41148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B15030"/>
                </a:solidFill>
                <a:latin typeface="Corbel"/>
                <a:ea typeface="Yu Gothic UI"/>
              </a:rPr>
              <a:t>其ノ壱   ·   APPAREL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06727" y="4480560"/>
            <a:ext cx="4572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151211"/>
                </a:solidFill>
                <a:latin typeface="Sitka Banner"/>
                <a:ea typeface="Yu Mincho"/>
              </a:rPr>
              <a:t>Apparel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06727" y="5257800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3A3530"/>
                </a:solidFill>
                <a:latin typeface="Sitka Banner"/>
                <a:ea typeface="Yu Mincho"/>
              </a:rPr>
              <a:t>One product photo, a full campaign.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06727" y="559612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 spc="100">
                <a:solidFill>
                  <a:srgbClr val="3A3530"/>
                </a:solidFill>
                <a:latin typeface="Corbel"/>
                <a:ea typeface="Yu Gothic UI"/>
              </a:rPr>
              <a:t>一枚の写真が、キャンペーンに。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78727" y="3886200"/>
            <a:ext cx="4572000" cy="2148840"/>
          </a:xfrm>
          <a:prstGeom prst="rect">
            <a:avLst/>
          </a:prstGeom>
          <a:solidFill>
            <a:srgbClr val="ECE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78727" y="3886200"/>
            <a:ext cx="4572000" cy="22860"/>
          </a:xfrm>
          <a:prstGeom prst="rect">
            <a:avLst/>
          </a:prstGeom>
          <a:solidFill>
            <a:srgbClr val="254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44487" y="41148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54872"/>
                </a:solidFill>
                <a:latin typeface="Corbel"/>
                <a:ea typeface="Yu Gothic UI"/>
              </a:rPr>
              <a:t>其ノ弐   ·   BLUEPRINT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44487" y="4480560"/>
            <a:ext cx="4572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151211"/>
                </a:solidFill>
                <a:latin typeface="Sitka Banner"/>
                <a:ea typeface="Yu Mincho"/>
              </a:rPr>
              <a:t>Blueprint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44487" y="5257800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3A3530"/>
                </a:solidFill>
                <a:latin typeface="Sitka Banner"/>
                <a:ea typeface="Yu Mincho"/>
              </a:rPr>
              <a:t>One blueprint, a parts list and inspection.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44487" y="559612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 spc="100">
                <a:solidFill>
                  <a:srgbClr val="3A3530"/>
                </a:solidFill>
                <a:latin typeface="Corbel"/>
                <a:ea typeface="Yu Gothic UI"/>
              </a:rPr>
              <a:t>一枚の図面が、部品表と検査に。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018520" y="5715000"/>
            <a:ext cx="640080" cy="640080"/>
          </a:xfrm>
          <a:prstGeom prst="rect">
            <a:avLst/>
          </a:prstGeom>
          <a:solidFill>
            <a:srgbClr val="B15030"/>
          </a:solidFill>
          <a:ln>
            <a:solidFill>
              <a:srgbClr val="B15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018520" y="571500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400" b="1" i="0">
                <a:solidFill>
                  <a:srgbClr val="F4EEE3"/>
                </a:solidFill>
                <a:latin typeface="Sitka Banner"/>
                <a:ea typeface="Yu Mincho"/>
              </a:rPr>
              <a:t>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630936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300">
                <a:solidFill>
                  <a:srgbClr val="898378"/>
                </a:solidFill>
                <a:latin typeface="Corbel"/>
                <a:ea typeface="Yu Gothic UI"/>
              </a:rPr>
              <a:t>alanda.ambrose@aibos.co.jp   ·   Create Project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898378"/>
                </a:solidFill>
                <a:latin typeface="Corbel"/>
                <a:ea typeface="Yu Gothic UI"/>
              </a:rPr>
              <a:t>17 / 17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